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8669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aloud. An emergency room gets patients with different urgency. Rule 1: higher priority first. Rule 2: if priorities are equal, the earlier arrival first. Our task is to design something that answers 'who is next?' quickly every time a doctor becomes free. In the example, Y and Z are both priority 5, so Y goes first because Y arrived earlier. Patients are called X, Y, Z, P, Q to keep the focus on the idea.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slow at either inserting or finding the max: unsorted is O(n) to find the next patient, sorted is O(n) to insert. A heap balances both at O(log n). A Priority Queue is the abstract idea: always give me the most urgent item. A Binary Heap is the data structure that implements it efficiently. Next slides explain how the heap works.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max-heap is a complete binary tree where each parent is at least as urgent as its children. That means the maximum is always at the root. Because the tree is complete, we can store it in a simple array and use the index formulas to move between parent and children. Show the example: Y:5 is the root; array form is Y5, P3, Z5, X2, Q2.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insert, put the new patient at the end of the array, then bubble it up. Compare with the parent; if the new patient is more urgent, swap. Repeat. In the example P with priority 3 is added after Y5, X2, Z5. P swaps with X2 but cannot beat Y5, so it stops. At most we climb the height of the tree, so O(log 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doctor is free, the answer is the root. Remove it, move the last array element to the root, then push it down: compare with both children, swap with the more urgent one, and repeat. In the example Y is treated, Q2 moves to the top, and swaps with Z5. The next patient is now Z. O(log 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an arrival number, Z might be treated before Y. We compare priority first, then arrival number. The table shows the heap after each insertion of X, Y, Z, P, Q. When the doctor becomes free five times, we get Y, Z, P, X, Q: priority 5 (Y before Z by arrival), then priority 3, then priority 2 (X before Q by arrival).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tree height is log n, insert and extract are O(log n); peek is O(1); space is O(n). Besides hospitals, priority queues are used in OS scheduling, Dijkstra's shortest path, heap sort and event simulation. Conclusion: a heap keeps the most urgent item one step away.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5486400" cy="274320"/>
          </a:xfrm>
          <a:prstGeom prst="rect">
            <a:avLst/>
          </a:prstGeom>
          <a:noFill/>
          <a:ln/>
        </p:spPr>
        <p:txBody>
          <a:bodyPr wrap="square" lIns="0" tIns="0" rIns="0" bIns="0" rtlCol="0" anchor="ctr"/>
          <a:lstStyle/>
          <a:p>
            <a:pPr marL="0" indent="0">
              <a:buNone/>
            </a:pPr>
            <a:r>
              <a:rPr lang="en-US" sz="1200" b="1" kern="0" spc="200" dirty="0">
                <a:solidFill>
                  <a:srgbClr val="E08A00"/>
                </a:solidFill>
                <a:latin typeface="Calibri" pitchFamily="34" charset="0"/>
                <a:ea typeface="Calibri" pitchFamily="34" charset="-122"/>
                <a:cs typeface="Calibri" pitchFamily="34" charset="-120"/>
              </a:rPr>
              <a:t>DAA  |  HEAP / PRIORITY QUEUE</a:t>
            </a:r>
            <a:endParaRPr lang="en-US" sz="12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Hospital Patient Priority Queue</a:t>
            </a:r>
            <a:endParaRPr lang="en-US" sz="3200" dirty="0"/>
          </a:p>
        </p:txBody>
      </p:sp>
      <p:sp>
        <p:nvSpPr>
          <p:cNvPr id="4" name="Text 2"/>
          <p:cNvSpPr txBox="1"/>
          <p:nvPr/>
        </p:nvSpPr>
        <p:spPr>
          <a:xfrm>
            <a:off x="457200" y="1325880"/>
            <a:ext cx="4572000" cy="274320"/>
          </a:xfrm>
          <a:prstGeom prst="rect">
            <a:avLst/>
          </a:prstGeom>
          <a:noFill/>
          <a:ln/>
        </p:spPr>
        <p:txBody>
          <a:bodyPr wrap="square" lIns="0" tIns="0" rIns="0" bIns="0" rtlCol="0" anchor="ctr"/>
          <a:lstStyle/>
          <a:p>
            <a:pPr marL="0" indent="0">
              <a:buNone/>
            </a:pPr>
            <a:r>
              <a:rPr lang="en-US" sz="1200" b="1" kern="0" spc="200" dirty="0">
                <a:solidFill>
                  <a:srgbClr val="E08A00"/>
                </a:solidFill>
                <a:latin typeface="Calibri" pitchFamily="34" charset="0"/>
                <a:ea typeface="Calibri" pitchFamily="34" charset="-122"/>
                <a:cs typeface="Calibri" pitchFamily="34" charset="-120"/>
              </a:rPr>
              <a:t>PROBLEM STATEMENT</a:t>
            </a:r>
            <a:endParaRPr lang="en-US" sz="1200" dirty="0"/>
          </a:p>
        </p:txBody>
      </p:sp>
      <p:sp>
        <p:nvSpPr>
          <p:cNvPr id="5" name="Text 3"/>
          <p:cNvSpPr txBox="1"/>
          <p:nvPr/>
        </p:nvSpPr>
        <p:spPr>
          <a:xfrm>
            <a:off x="457200" y="1600200"/>
            <a:ext cx="4663440" cy="10058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hospital emergency department receives patients with different levels of urgency. A patient with a higher emergency priority must be treated before one with a lower priority.</a:t>
            </a:r>
            <a:endParaRPr lang="en-US" sz="1400" dirty="0"/>
          </a:p>
        </p:txBody>
      </p:sp>
      <p:sp>
        <p:nvSpPr>
          <p:cNvPr id="6" name="Text 4"/>
          <p:cNvSpPr txBox="1"/>
          <p:nvPr/>
        </p:nvSpPr>
        <p:spPr>
          <a:xfrm>
            <a:off x="457200" y="2697480"/>
            <a:ext cx="4663440" cy="91440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DDD9FF"/>
                </a:solidFill>
                <a:latin typeface="Calibri" pitchFamily="34" charset="0"/>
                <a:ea typeface="Calibri" pitchFamily="34" charset="-122"/>
                <a:cs typeface="Calibri" pitchFamily="34" charset="-120"/>
              </a:rPr>
              <a:t>Higher priority is always treated first</a:t>
            </a:r>
            <a:endParaRPr lang="en-US" sz="1300" dirty="0"/>
          </a:p>
          <a:p>
            <a:pPr marL="342900" indent="-342900">
              <a:spcAft>
                <a:spcPts val="300"/>
              </a:spcAft>
              <a:buSzPct val="100000"/>
              <a:buChar char="•"/>
            </a:pPr>
            <a:r>
              <a:rPr lang="en-US" sz="1300" dirty="0">
                <a:solidFill>
                  <a:srgbClr val="DDD9FF"/>
                </a:solidFill>
                <a:latin typeface="Calibri" pitchFamily="34" charset="0"/>
                <a:ea typeface="Calibri" pitchFamily="34" charset="-122"/>
                <a:cs typeface="Calibri" pitchFamily="34" charset="-120"/>
              </a:rPr>
              <a:t>Same priority: the one who arrived earlier goes first</a:t>
            </a:r>
            <a:endParaRPr lang="en-US" sz="1300" dirty="0"/>
          </a:p>
          <a:p>
            <a:pPr marL="342900" indent="-342900">
              <a:spcAft>
                <a:spcPts val="300"/>
              </a:spcAft>
              <a:buSzPct val="100000"/>
              <a:buChar char="•"/>
            </a:pPr>
            <a:r>
              <a:rPr lang="en-US" sz="1300" dirty="0">
                <a:solidFill>
                  <a:srgbClr val="DDD9FF"/>
                </a:solidFill>
                <a:latin typeface="Calibri" pitchFamily="34" charset="0"/>
                <a:ea typeface="Calibri" pitchFamily="34" charset="-122"/>
                <a:cs typeface="Calibri" pitchFamily="34" charset="-120"/>
              </a:rPr>
              <a:t>Patients keep arriving at any time</a:t>
            </a:r>
            <a:endParaRPr lang="en-US" sz="1300" dirty="0"/>
          </a:p>
        </p:txBody>
      </p:sp>
      <p:sp>
        <p:nvSpPr>
          <p:cNvPr id="7" name="Shape 5"/>
          <p:cNvSpPr/>
          <p:nvPr/>
        </p:nvSpPr>
        <p:spPr>
          <a:xfrm>
            <a:off x="457200" y="3749040"/>
            <a:ext cx="4663440" cy="868680"/>
          </a:xfrm>
          <a:prstGeom prst="roundRect">
            <a:avLst>
              <a:gd name="adj" fmla="val 10526"/>
            </a:avLst>
          </a:prstGeom>
          <a:solidFill>
            <a:srgbClr val="2E2A6B"/>
          </a:solidFill>
          <a:ln w="19050">
            <a:solidFill>
              <a:srgbClr val="E08A00"/>
            </a:solidFill>
            <a:prstDash val="solid"/>
          </a:ln>
        </p:spPr>
      </p:sp>
      <p:sp>
        <p:nvSpPr>
          <p:cNvPr id="8" name="Text 6"/>
          <p:cNvSpPr txBox="1"/>
          <p:nvPr/>
        </p:nvSpPr>
        <p:spPr>
          <a:xfrm>
            <a:off x="640080" y="3749040"/>
            <a:ext cx="4297680" cy="868680"/>
          </a:xfrm>
          <a:prstGeom prst="rect">
            <a:avLst/>
          </a:prstGeom>
          <a:noFill/>
          <a:ln/>
        </p:spPr>
        <p:txBody>
          <a:bodyPr wrap="square" lIns="0" tIns="0" rIns="0" bIns="0" rtlCol="0" anchor="ctr"/>
          <a:lstStyle/>
          <a:p>
            <a:pPr marL="0" indent="0">
              <a:buNone/>
            </a:pPr>
            <a:r>
              <a:rPr lang="en-US" sz="1300" b="1" dirty="0">
                <a:solidFill>
                  <a:srgbClr val="E08A00"/>
                </a:solidFill>
                <a:latin typeface="Calibri" pitchFamily="34" charset="0"/>
                <a:ea typeface="Calibri" pitchFamily="34" charset="-122"/>
                <a:cs typeface="Calibri" pitchFamily="34" charset="-120"/>
              </a:rPr>
              <a:t>TASK  </a:t>
            </a:r>
            <a:r>
              <a:rPr lang="en-US" sz="1300" dirty="0">
                <a:solidFill>
                  <a:srgbClr val="FFFFFF"/>
                </a:solidFill>
                <a:latin typeface="Calibri" pitchFamily="34" charset="0"/>
                <a:ea typeface="Calibri" pitchFamily="34" charset="-122"/>
                <a:cs typeface="Calibri" pitchFamily="34" charset="-120"/>
              </a:rPr>
              <a:t>Design a system that efficiently decides the next patient to treat whenever a doctor becomes available.</a:t>
            </a:r>
            <a:endParaRPr lang="en-US" sz="1300" dirty="0"/>
          </a:p>
        </p:txBody>
      </p:sp>
      <p:sp>
        <p:nvSpPr>
          <p:cNvPr id="9" name="Text 7"/>
          <p:cNvSpPr txBox="1"/>
          <p:nvPr/>
        </p:nvSpPr>
        <p:spPr>
          <a:xfrm>
            <a:off x="5486400" y="1325880"/>
            <a:ext cx="3200400" cy="274320"/>
          </a:xfrm>
          <a:prstGeom prst="rect">
            <a:avLst/>
          </a:prstGeom>
          <a:noFill/>
          <a:ln/>
        </p:spPr>
        <p:txBody>
          <a:bodyPr wrap="square" lIns="0" tIns="0" rIns="0" bIns="0" rtlCol="0" anchor="ctr"/>
          <a:lstStyle/>
          <a:p>
            <a:pPr marL="0" indent="0">
              <a:buNone/>
            </a:pPr>
            <a:r>
              <a:rPr lang="en-US" sz="1200" b="1" kern="0" spc="200" dirty="0">
                <a:solidFill>
                  <a:srgbClr val="E08A00"/>
                </a:solidFill>
                <a:latin typeface="Calibri" pitchFamily="34" charset="0"/>
                <a:ea typeface="Calibri" pitchFamily="34" charset="-122"/>
                <a:cs typeface="Calibri" pitchFamily="34" charset="-120"/>
              </a:rPr>
              <a:t>EXAMPLE: WAITING ROOM</a:t>
            </a:r>
            <a:endParaRPr lang="en-US" sz="1200" dirty="0"/>
          </a:p>
        </p:txBody>
      </p:sp>
      <p:sp>
        <p:nvSpPr>
          <p:cNvPr id="10" name="Shape 8"/>
          <p:cNvSpPr/>
          <p:nvPr/>
        </p:nvSpPr>
        <p:spPr>
          <a:xfrm>
            <a:off x="5486400" y="1645920"/>
            <a:ext cx="3200400" cy="493776"/>
          </a:xfrm>
          <a:prstGeom prst="roundRect">
            <a:avLst>
              <a:gd name="adj" fmla="val 18519"/>
            </a:avLst>
          </a:prstGeom>
          <a:solidFill>
            <a:srgbClr val="2E2A6B"/>
          </a:solidFill>
          <a:ln w="12700">
            <a:solidFill>
              <a:srgbClr val="2E2A6B"/>
            </a:solidFill>
            <a:prstDash val="solid"/>
          </a:ln>
        </p:spPr>
      </p:sp>
      <p:sp>
        <p:nvSpPr>
          <p:cNvPr id="11" name="Shape 9"/>
          <p:cNvSpPr/>
          <p:nvPr/>
        </p:nvSpPr>
        <p:spPr>
          <a:xfrm>
            <a:off x="5577840" y="1709928"/>
            <a:ext cx="365760" cy="365760"/>
          </a:xfrm>
          <a:prstGeom prst="ellipse">
            <a:avLst/>
          </a:prstGeom>
          <a:solidFill>
            <a:srgbClr val="E08A00"/>
          </a:solidFill>
          <a:ln w="19050">
            <a:solidFill>
              <a:srgbClr val="FFFFFF"/>
            </a:solidFill>
            <a:prstDash val="solid"/>
          </a:ln>
        </p:spPr>
      </p:sp>
      <p:sp>
        <p:nvSpPr>
          <p:cNvPr id="12" name="Text 10"/>
          <p:cNvSpPr txBox="1"/>
          <p:nvPr/>
        </p:nvSpPr>
        <p:spPr>
          <a:xfrm>
            <a:off x="5577840" y="170992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6080760" y="1645920"/>
            <a:ext cx="1463040" cy="49377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Patient X</a:t>
            </a:r>
            <a:endParaRPr lang="en-US" sz="1500" dirty="0"/>
          </a:p>
        </p:txBody>
      </p:sp>
      <p:sp>
        <p:nvSpPr>
          <p:cNvPr id="14" name="Text 12"/>
          <p:cNvSpPr txBox="1"/>
          <p:nvPr/>
        </p:nvSpPr>
        <p:spPr>
          <a:xfrm>
            <a:off x="7406640" y="1645920"/>
            <a:ext cx="1188720" cy="493776"/>
          </a:xfrm>
          <a:prstGeom prst="rect">
            <a:avLst/>
          </a:prstGeom>
          <a:noFill/>
          <a:ln/>
        </p:spPr>
        <p:txBody>
          <a:bodyPr wrap="square" lIns="0" tIns="0" rIns="0" bIns="0" rtlCol="0" anchor="ctr"/>
          <a:lstStyle/>
          <a:p>
            <a:pPr marL="0" indent="0">
              <a:buNone/>
            </a:pPr>
            <a:r>
              <a:rPr lang="en-US" sz="1100" i="1" dirty="0">
                <a:solidFill>
                  <a:srgbClr val="DDD9FF"/>
                </a:solidFill>
                <a:latin typeface="Calibri" pitchFamily="34" charset="0"/>
                <a:ea typeface="Calibri" pitchFamily="34" charset="-122"/>
                <a:cs typeface="Calibri" pitchFamily="34" charset="-120"/>
              </a:rPr>
              <a:t>arrived 1st</a:t>
            </a:r>
            <a:endParaRPr lang="en-US" sz="1100" dirty="0"/>
          </a:p>
        </p:txBody>
      </p:sp>
      <p:sp>
        <p:nvSpPr>
          <p:cNvPr id="15" name="Shape 13"/>
          <p:cNvSpPr/>
          <p:nvPr/>
        </p:nvSpPr>
        <p:spPr>
          <a:xfrm>
            <a:off x="5486400" y="2231136"/>
            <a:ext cx="3200400" cy="493776"/>
          </a:xfrm>
          <a:prstGeom prst="roundRect">
            <a:avLst>
              <a:gd name="adj" fmla="val 18519"/>
            </a:avLst>
          </a:prstGeom>
          <a:solidFill>
            <a:srgbClr val="2E2A6B"/>
          </a:solidFill>
          <a:ln w="12700">
            <a:solidFill>
              <a:srgbClr val="2E2A6B"/>
            </a:solidFill>
            <a:prstDash val="solid"/>
          </a:ln>
        </p:spPr>
      </p:sp>
      <p:sp>
        <p:nvSpPr>
          <p:cNvPr id="16" name="Shape 14"/>
          <p:cNvSpPr/>
          <p:nvPr/>
        </p:nvSpPr>
        <p:spPr>
          <a:xfrm>
            <a:off x="5577840" y="2295144"/>
            <a:ext cx="365760" cy="365760"/>
          </a:xfrm>
          <a:prstGeom prst="ellipse">
            <a:avLst/>
          </a:prstGeom>
          <a:solidFill>
            <a:srgbClr val="F43F5E"/>
          </a:solidFill>
          <a:ln w="19050">
            <a:solidFill>
              <a:srgbClr val="FFFFFF"/>
            </a:solidFill>
            <a:prstDash val="solid"/>
          </a:ln>
        </p:spPr>
      </p:sp>
      <p:sp>
        <p:nvSpPr>
          <p:cNvPr id="17" name="Text 15"/>
          <p:cNvSpPr txBox="1"/>
          <p:nvPr/>
        </p:nvSpPr>
        <p:spPr>
          <a:xfrm>
            <a:off x="5577840" y="22951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6080760" y="2231136"/>
            <a:ext cx="1463040" cy="49377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Patient Y</a:t>
            </a:r>
            <a:endParaRPr lang="en-US" sz="1500" dirty="0"/>
          </a:p>
        </p:txBody>
      </p:sp>
      <p:sp>
        <p:nvSpPr>
          <p:cNvPr id="19" name="Text 17"/>
          <p:cNvSpPr txBox="1"/>
          <p:nvPr/>
        </p:nvSpPr>
        <p:spPr>
          <a:xfrm>
            <a:off x="7406640" y="2231136"/>
            <a:ext cx="1188720" cy="493776"/>
          </a:xfrm>
          <a:prstGeom prst="rect">
            <a:avLst/>
          </a:prstGeom>
          <a:noFill/>
          <a:ln/>
        </p:spPr>
        <p:txBody>
          <a:bodyPr wrap="square" lIns="0" tIns="0" rIns="0" bIns="0" rtlCol="0" anchor="ctr"/>
          <a:lstStyle/>
          <a:p>
            <a:pPr marL="0" indent="0">
              <a:buNone/>
            </a:pPr>
            <a:r>
              <a:rPr lang="en-US" sz="1100" i="1" dirty="0">
                <a:solidFill>
                  <a:srgbClr val="DDD9FF"/>
                </a:solidFill>
                <a:latin typeface="Calibri" pitchFamily="34" charset="0"/>
                <a:ea typeface="Calibri" pitchFamily="34" charset="-122"/>
                <a:cs typeface="Calibri" pitchFamily="34" charset="-120"/>
              </a:rPr>
              <a:t>arrived 2nd</a:t>
            </a:r>
            <a:endParaRPr lang="en-US" sz="1100" dirty="0"/>
          </a:p>
        </p:txBody>
      </p:sp>
      <p:sp>
        <p:nvSpPr>
          <p:cNvPr id="20" name="Shape 18"/>
          <p:cNvSpPr/>
          <p:nvPr/>
        </p:nvSpPr>
        <p:spPr>
          <a:xfrm>
            <a:off x="5486400" y="2816352"/>
            <a:ext cx="3200400" cy="493776"/>
          </a:xfrm>
          <a:prstGeom prst="roundRect">
            <a:avLst>
              <a:gd name="adj" fmla="val 18519"/>
            </a:avLst>
          </a:prstGeom>
          <a:solidFill>
            <a:srgbClr val="2E2A6B"/>
          </a:solidFill>
          <a:ln w="12700">
            <a:solidFill>
              <a:srgbClr val="2E2A6B"/>
            </a:solidFill>
            <a:prstDash val="solid"/>
          </a:ln>
        </p:spPr>
      </p:sp>
      <p:sp>
        <p:nvSpPr>
          <p:cNvPr id="21" name="Shape 19"/>
          <p:cNvSpPr/>
          <p:nvPr/>
        </p:nvSpPr>
        <p:spPr>
          <a:xfrm>
            <a:off x="5577840" y="2880360"/>
            <a:ext cx="365760" cy="365760"/>
          </a:xfrm>
          <a:prstGeom prst="ellipse">
            <a:avLst/>
          </a:prstGeom>
          <a:solidFill>
            <a:srgbClr val="F43F5E"/>
          </a:solidFill>
          <a:ln w="19050">
            <a:solidFill>
              <a:srgbClr val="FFFFFF"/>
            </a:solidFill>
            <a:prstDash val="solid"/>
          </a:ln>
        </p:spPr>
      </p:sp>
      <p:sp>
        <p:nvSpPr>
          <p:cNvPr id="22" name="Text 20"/>
          <p:cNvSpPr txBox="1"/>
          <p:nvPr/>
        </p:nvSpPr>
        <p:spPr>
          <a:xfrm>
            <a:off x="557784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6080760" y="2816352"/>
            <a:ext cx="1463040" cy="49377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Patient Z</a:t>
            </a:r>
            <a:endParaRPr lang="en-US" sz="1500" dirty="0"/>
          </a:p>
        </p:txBody>
      </p:sp>
      <p:sp>
        <p:nvSpPr>
          <p:cNvPr id="24" name="Text 22"/>
          <p:cNvSpPr txBox="1"/>
          <p:nvPr/>
        </p:nvSpPr>
        <p:spPr>
          <a:xfrm>
            <a:off x="7406640" y="2816352"/>
            <a:ext cx="1188720" cy="493776"/>
          </a:xfrm>
          <a:prstGeom prst="rect">
            <a:avLst/>
          </a:prstGeom>
          <a:noFill/>
          <a:ln/>
        </p:spPr>
        <p:txBody>
          <a:bodyPr wrap="square" lIns="0" tIns="0" rIns="0" bIns="0" rtlCol="0" anchor="ctr"/>
          <a:lstStyle/>
          <a:p>
            <a:pPr marL="0" indent="0">
              <a:buNone/>
            </a:pPr>
            <a:r>
              <a:rPr lang="en-US" sz="1100" i="1" dirty="0">
                <a:solidFill>
                  <a:srgbClr val="DDD9FF"/>
                </a:solidFill>
                <a:latin typeface="Calibri" pitchFamily="34" charset="0"/>
                <a:ea typeface="Calibri" pitchFamily="34" charset="-122"/>
                <a:cs typeface="Calibri" pitchFamily="34" charset="-120"/>
              </a:rPr>
              <a:t>arrived 3rd</a:t>
            </a:r>
            <a:endParaRPr lang="en-US" sz="1100" dirty="0"/>
          </a:p>
        </p:txBody>
      </p:sp>
      <p:sp>
        <p:nvSpPr>
          <p:cNvPr id="25" name="Shape 23"/>
          <p:cNvSpPr/>
          <p:nvPr/>
        </p:nvSpPr>
        <p:spPr>
          <a:xfrm>
            <a:off x="5486400" y="3401568"/>
            <a:ext cx="3200400" cy="493776"/>
          </a:xfrm>
          <a:prstGeom prst="roundRect">
            <a:avLst>
              <a:gd name="adj" fmla="val 18519"/>
            </a:avLst>
          </a:prstGeom>
          <a:solidFill>
            <a:srgbClr val="2E2A6B"/>
          </a:solidFill>
          <a:ln w="12700">
            <a:solidFill>
              <a:srgbClr val="2E2A6B"/>
            </a:solidFill>
            <a:prstDash val="solid"/>
          </a:ln>
        </p:spPr>
      </p:sp>
      <p:sp>
        <p:nvSpPr>
          <p:cNvPr id="26" name="Shape 24"/>
          <p:cNvSpPr/>
          <p:nvPr/>
        </p:nvSpPr>
        <p:spPr>
          <a:xfrm>
            <a:off x="5577840" y="3465576"/>
            <a:ext cx="365760" cy="365760"/>
          </a:xfrm>
          <a:prstGeom prst="ellipse">
            <a:avLst/>
          </a:prstGeom>
          <a:solidFill>
            <a:srgbClr val="4F46E5"/>
          </a:solidFill>
          <a:ln w="19050">
            <a:solidFill>
              <a:srgbClr val="FFFFFF"/>
            </a:solidFill>
            <a:prstDash val="solid"/>
          </a:ln>
        </p:spPr>
      </p:sp>
      <p:sp>
        <p:nvSpPr>
          <p:cNvPr id="27" name="Text 25"/>
          <p:cNvSpPr txBox="1"/>
          <p:nvPr/>
        </p:nvSpPr>
        <p:spPr>
          <a:xfrm>
            <a:off x="5577840" y="34655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6080760" y="3401568"/>
            <a:ext cx="1463040" cy="49377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Patient P</a:t>
            </a:r>
            <a:endParaRPr lang="en-US" sz="1500" dirty="0"/>
          </a:p>
        </p:txBody>
      </p:sp>
      <p:sp>
        <p:nvSpPr>
          <p:cNvPr id="29" name="Text 27"/>
          <p:cNvSpPr txBox="1"/>
          <p:nvPr/>
        </p:nvSpPr>
        <p:spPr>
          <a:xfrm>
            <a:off x="7406640" y="3401568"/>
            <a:ext cx="1188720" cy="493776"/>
          </a:xfrm>
          <a:prstGeom prst="rect">
            <a:avLst/>
          </a:prstGeom>
          <a:noFill/>
          <a:ln/>
        </p:spPr>
        <p:txBody>
          <a:bodyPr wrap="square" lIns="0" tIns="0" rIns="0" bIns="0" rtlCol="0" anchor="ctr"/>
          <a:lstStyle/>
          <a:p>
            <a:pPr marL="0" indent="0">
              <a:buNone/>
            </a:pPr>
            <a:r>
              <a:rPr lang="en-US" sz="1100" i="1" dirty="0">
                <a:solidFill>
                  <a:srgbClr val="DDD9FF"/>
                </a:solidFill>
                <a:latin typeface="Calibri" pitchFamily="34" charset="0"/>
                <a:ea typeface="Calibri" pitchFamily="34" charset="-122"/>
                <a:cs typeface="Calibri" pitchFamily="34" charset="-120"/>
              </a:rPr>
              <a:t>arrived 4th</a:t>
            </a:r>
            <a:endParaRPr lang="en-US" sz="1100" dirty="0"/>
          </a:p>
        </p:txBody>
      </p:sp>
      <p:sp>
        <p:nvSpPr>
          <p:cNvPr id="30" name="Shape 28"/>
          <p:cNvSpPr/>
          <p:nvPr/>
        </p:nvSpPr>
        <p:spPr>
          <a:xfrm>
            <a:off x="5486400" y="3986784"/>
            <a:ext cx="3200400" cy="493776"/>
          </a:xfrm>
          <a:prstGeom prst="roundRect">
            <a:avLst>
              <a:gd name="adj" fmla="val 18519"/>
            </a:avLst>
          </a:prstGeom>
          <a:solidFill>
            <a:srgbClr val="2E2A6B"/>
          </a:solidFill>
          <a:ln w="12700">
            <a:solidFill>
              <a:srgbClr val="2E2A6B"/>
            </a:solidFill>
            <a:prstDash val="solid"/>
          </a:ln>
        </p:spPr>
      </p:sp>
      <p:sp>
        <p:nvSpPr>
          <p:cNvPr id="31" name="Shape 29"/>
          <p:cNvSpPr/>
          <p:nvPr/>
        </p:nvSpPr>
        <p:spPr>
          <a:xfrm>
            <a:off x="5577840" y="4050792"/>
            <a:ext cx="365760" cy="365760"/>
          </a:xfrm>
          <a:prstGeom prst="ellipse">
            <a:avLst/>
          </a:prstGeom>
          <a:solidFill>
            <a:srgbClr val="E08A00"/>
          </a:solidFill>
          <a:ln w="19050">
            <a:solidFill>
              <a:srgbClr val="FFFFFF"/>
            </a:solidFill>
            <a:prstDash val="solid"/>
          </a:ln>
        </p:spPr>
      </p:sp>
      <p:sp>
        <p:nvSpPr>
          <p:cNvPr id="32" name="Text 30"/>
          <p:cNvSpPr txBox="1"/>
          <p:nvPr/>
        </p:nvSpPr>
        <p:spPr>
          <a:xfrm>
            <a:off x="5577840" y="405079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3" name="Text 31"/>
          <p:cNvSpPr txBox="1"/>
          <p:nvPr/>
        </p:nvSpPr>
        <p:spPr>
          <a:xfrm>
            <a:off x="6080760" y="3986784"/>
            <a:ext cx="1463040" cy="49377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Patient Q</a:t>
            </a:r>
            <a:endParaRPr lang="en-US" sz="1500" dirty="0"/>
          </a:p>
        </p:txBody>
      </p:sp>
      <p:sp>
        <p:nvSpPr>
          <p:cNvPr id="34" name="Text 32"/>
          <p:cNvSpPr txBox="1"/>
          <p:nvPr/>
        </p:nvSpPr>
        <p:spPr>
          <a:xfrm>
            <a:off x="7406640" y="3986784"/>
            <a:ext cx="1188720" cy="493776"/>
          </a:xfrm>
          <a:prstGeom prst="rect">
            <a:avLst/>
          </a:prstGeom>
          <a:noFill/>
          <a:ln/>
        </p:spPr>
        <p:txBody>
          <a:bodyPr wrap="square" lIns="0" tIns="0" rIns="0" bIns="0" rtlCol="0" anchor="ctr"/>
          <a:lstStyle/>
          <a:p>
            <a:pPr marL="0" indent="0">
              <a:buNone/>
            </a:pPr>
            <a:r>
              <a:rPr lang="en-US" sz="1100" i="1" dirty="0">
                <a:solidFill>
                  <a:srgbClr val="DDD9FF"/>
                </a:solidFill>
                <a:latin typeface="Calibri" pitchFamily="34" charset="0"/>
                <a:ea typeface="Calibri" pitchFamily="34" charset="-122"/>
                <a:cs typeface="Calibri" pitchFamily="34" charset="-120"/>
              </a:rPr>
              <a:t>arrived 5th</a:t>
            </a:r>
            <a:endParaRPr lang="en-US" sz="1100" dirty="0"/>
          </a:p>
        </p:txBody>
      </p:sp>
      <p:sp>
        <p:nvSpPr>
          <p:cNvPr id="35" name="Text 33"/>
          <p:cNvSpPr txBox="1"/>
          <p:nvPr/>
        </p:nvSpPr>
        <p:spPr>
          <a:xfrm>
            <a:off x="5486400" y="4617720"/>
            <a:ext cx="3200400" cy="274320"/>
          </a:xfrm>
          <a:prstGeom prst="rect">
            <a:avLst/>
          </a:prstGeom>
          <a:noFill/>
          <a:ln/>
        </p:spPr>
        <p:txBody>
          <a:bodyPr wrap="square" lIns="0" tIns="0" rIns="0" bIns="0" rtlCol="0" anchor="ctr"/>
          <a:lstStyle/>
          <a:p>
            <a:pPr marL="0" indent="0">
              <a:buNone/>
            </a:pPr>
            <a:r>
              <a:rPr lang="en-US" sz="1100" i="1" dirty="0">
                <a:solidFill>
                  <a:srgbClr val="DDD9FF"/>
                </a:solidFill>
                <a:latin typeface="Calibri" pitchFamily="34" charset="0"/>
                <a:ea typeface="Calibri" pitchFamily="34" charset="-122"/>
                <a:cs typeface="Calibri" pitchFamily="34" charset="-120"/>
              </a:rPr>
              <a:t>Circle number = priority (5 is most urgent)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E1B4B"/>
                </a:solidFill>
                <a:latin typeface="Cambria" pitchFamily="34" charset="0"/>
                <a:ea typeface="Cambria" pitchFamily="34" charset="-122"/>
                <a:cs typeface="Cambria" pitchFamily="34" charset="-120"/>
              </a:rPr>
              <a:t>The Solution</a:t>
            </a:r>
            <a:endParaRPr lang="en-US" sz="3200" dirty="0"/>
          </a:p>
        </p:txBody>
      </p:sp>
      <p:sp>
        <p:nvSpPr>
          <p:cNvPr id="3" name="Shape 1"/>
          <p:cNvSpPr/>
          <p:nvPr/>
        </p:nvSpPr>
        <p:spPr>
          <a:xfrm>
            <a:off x="457200" y="1097280"/>
            <a:ext cx="1874520" cy="1097280"/>
          </a:xfrm>
          <a:prstGeom prst="roundRect">
            <a:avLst>
              <a:gd name="adj" fmla="val 8333"/>
            </a:avLst>
          </a:prstGeom>
          <a:solidFill>
            <a:srgbClr val="FFFFFF"/>
          </a:solidFill>
          <a:ln w="12700">
            <a:solidFill>
              <a:srgbClr val="DDD6FE"/>
            </a:solidFill>
            <a:prstDash val="solid"/>
          </a:ln>
          <a:effectLst>
            <a:outerShdw blurRad="76200" dist="25400" dir="5400000" algn="bl" rotWithShape="0">
              <a:srgbClr val="000000">
                <a:alpha val="15000"/>
              </a:srgbClr>
            </a:outerShdw>
          </a:effectLst>
        </p:spPr>
      </p:sp>
      <p:sp>
        <p:nvSpPr>
          <p:cNvPr id="4" name="Shape 2"/>
          <p:cNvSpPr/>
          <p:nvPr/>
        </p:nvSpPr>
        <p:spPr>
          <a:xfrm>
            <a:off x="566928" y="1188720"/>
            <a:ext cx="329184" cy="329184"/>
          </a:xfrm>
          <a:prstGeom prst="ellipse">
            <a:avLst/>
          </a:prstGeom>
          <a:solidFill>
            <a:srgbClr val="4F46E5"/>
          </a:solidFill>
          <a:ln w="19050">
            <a:solidFill>
              <a:srgbClr val="FFFFFF"/>
            </a:solidFill>
            <a:prstDash val="solid"/>
          </a:ln>
        </p:spPr>
      </p:sp>
      <p:sp>
        <p:nvSpPr>
          <p:cNvPr id="5" name="Text 3"/>
          <p:cNvSpPr txBox="1"/>
          <p:nvPr/>
        </p:nvSpPr>
        <p:spPr>
          <a:xfrm>
            <a:off x="566928" y="11887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0120" y="1188720"/>
            <a:ext cx="1325880" cy="329184"/>
          </a:xfrm>
          <a:prstGeom prst="rect">
            <a:avLst/>
          </a:prstGeom>
          <a:noFill/>
          <a:ln/>
        </p:spPr>
        <p:txBody>
          <a:bodyPr wrap="square" lIns="0" tIns="0" rIns="0" bIns="0" rtlCol="0" anchor="ctr"/>
          <a:lstStyle/>
          <a:p>
            <a:pPr marL="0" indent="0">
              <a:buNone/>
            </a:pPr>
            <a:r>
              <a:rPr lang="en-US" sz="1400" b="1" dirty="0">
                <a:solidFill>
                  <a:srgbClr val="1E1B4B"/>
                </a:solidFill>
                <a:latin typeface="Calibri" pitchFamily="34" charset="0"/>
                <a:ea typeface="Calibri" pitchFamily="34" charset="-122"/>
                <a:cs typeface="Calibri" pitchFamily="34" charset="-120"/>
              </a:rPr>
              <a:t>Patient arrives</a:t>
            </a:r>
            <a:endParaRPr lang="en-US" sz="1400" dirty="0"/>
          </a:p>
        </p:txBody>
      </p:sp>
      <p:sp>
        <p:nvSpPr>
          <p:cNvPr id="7" name="Text 5"/>
          <p:cNvSpPr txBox="1"/>
          <p:nvPr/>
        </p:nvSpPr>
        <p:spPr>
          <a:xfrm>
            <a:off x="594360" y="1600200"/>
            <a:ext cx="164592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Gets a priority and an arrival number</a:t>
            </a:r>
            <a:endParaRPr lang="en-US" sz="1200" dirty="0"/>
          </a:p>
        </p:txBody>
      </p:sp>
      <p:sp>
        <p:nvSpPr>
          <p:cNvPr id="8" name="Text 6"/>
          <p:cNvSpPr txBox="1"/>
          <p:nvPr/>
        </p:nvSpPr>
        <p:spPr>
          <a:xfrm>
            <a:off x="2331720" y="1417320"/>
            <a:ext cx="228600" cy="365760"/>
          </a:xfrm>
          <a:prstGeom prst="rect">
            <a:avLst/>
          </a:prstGeom>
          <a:noFill/>
          <a:ln/>
        </p:spPr>
        <p:txBody>
          <a:bodyPr wrap="square" lIns="0" tIns="0" rIns="0" bIns="0" rtlCol="0" anchor="ctr"/>
          <a:lstStyle/>
          <a:p>
            <a:pPr marL="0" indent="0" algn="ctr">
              <a:buNone/>
            </a:pPr>
            <a:r>
              <a:rPr lang="en-US" sz="1800" b="1" dirty="0">
                <a:solidFill>
                  <a:srgbClr val="4F46E5"/>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560320" y="1097280"/>
            <a:ext cx="1874520" cy="1097280"/>
          </a:xfrm>
          <a:prstGeom prst="roundRect">
            <a:avLst>
              <a:gd name="adj" fmla="val 8333"/>
            </a:avLst>
          </a:prstGeom>
          <a:solidFill>
            <a:srgbClr val="FFFFFF"/>
          </a:solidFill>
          <a:ln w="12700">
            <a:solidFill>
              <a:srgbClr val="DDD6FE"/>
            </a:solidFill>
            <a:prstDash val="solid"/>
          </a:ln>
          <a:effectLst>
            <a:outerShdw blurRad="76200" dist="25400" dir="5400000" algn="bl" rotWithShape="0">
              <a:srgbClr val="000000">
                <a:alpha val="15000"/>
              </a:srgbClr>
            </a:outerShdw>
          </a:effectLst>
        </p:spPr>
      </p:sp>
      <p:sp>
        <p:nvSpPr>
          <p:cNvPr id="10" name="Shape 8"/>
          <p:cNvSpPr/>
          <p:nvPr/>
        </p:nvSpPr>
        <p:spPr>
          <a:xfrm>
            <a:off x="2670048" y="1188720"/>
            <a:ext cx="329184" cy="329184"/>
          </a:xfrm>
          <a:prstGeom prst="ellipse">
            <a:avLst/>
          </a:prstGeom>
          <a:solidFill>
            <a:srgbClr val="4F46E5"/>
          </a:solidFill>
          <a:ln w="19050">
            <a:solidFill>
              <a:srgbClr val="FFFFFF"/>
            </a:solidFill>
            <a:prstDash val="solid"/>
          </a:ln>
        </p:spPr>
      </p:sp>
      <p:sp>
        <p:nvSpPr>
          <p:cNvPr id="11" name="Text 9"/>
          <p:cNvSpPr txBox="1"/>
          <p:nvPr/>
        </p:nvSpPr>
        <p:spPr>
          <a:xfrm>
            <a:off x="2670048" y="11887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063240" y="1188720"/>
            <a:ext cx="1325880" cy="329184"/>
          </a:xfrm>
          <a:prstGeom prst="rect">
            <a:avLst/>
          </a:prstGeom>
          <a:noFill/>
          <a:ln/>
        </p:spPr>
        <p:txBody>
          <a:bodyPr wrap="square" lIns="0" tIns="0" rIns="0" bIns="0" rtlCol="0" anchor="ctr"/>
          <a:lstStyle/>
          <a:p>
            <a:pPr marL="0" indent="0">
              <a:buNone/>
            </a:pPr>
            <a:r>
              <a:rPr lang="en-US" sz="1400" b="1" dirty="0">
                <a:solidFill>
                  <a:srgbClr val="1E1B4B"/>
                </a:solidFill>
                <a:latin typeface="Calibri" pitchFamily="34" charset="0"/>
                <a:ea typeface="Calibri" pitchFamily="34" charset="-122"/>
                <a:cs typeface="Calibri" pitchFamily="34" charset="-120"/>
              </a:rPr>
              <a:t>Insert into heap</a:t>
            </a:r>
            <a:endParaRPr lang="en-US" sz="1400" dirty="0"/>
          </a:p>
        </p:txBody>
      </p:sp>
      <p:sp>
        <p:nvSpPr>
          <p:cNvPr id="13" name="Text 11"/>
          <p:cNvSpPr txBox="1"/>
          <p:nvPr/>
        </p:nvSpPr>
        <p:spPr>
          <a:xfrm>
            <a:off x="2697480" y="1600200"/>
            <a:ext cx="164592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Placed so the most urgent stays on top</a:t>
            </a:r>
            <a:endParaRPr lang="en-US" sz="1200" dirty="0"/>
          </a:p>
        </p:txBody>
      </p:sp>
      <p:sp>
        <p:nvSpPr>
          <p:cNvPr id="14" name="Text 12"/>
          <p:cNvSpPr txBox="1"/>
          <p:nvPr/>
        </p:nvSpPr>
        <p:spPr>
          <a:xfrm>
            <a:off x="4434840" y="1417320"/>
            <a:ext cx="228600" cy="365760"/>
          </a:xfrm>
          <a:prstGeom prst="rect">
            <a:avLst/>
          </a:prstGeom>
          <a:noFill/>
          <a:ln/>
        </p:spPr>
        <p:txBody>
          <a:bodyPr wrap="square" lIns="0" tIns="0" rIns="0" bIns="0" rtlCol="0" anchor="ctr"/>
          <a:lstStyle/>
          <a:p>
            <a:pPr marL="0" indent="0" algn="ctr">
              <a:buNone/>
            </a:pPr>
            <a:r>
              <a:rPr lang="en-US" sz="1800" b="1" dirty="0">
                <a:solidFill>
                  <a:srgbClr val="4F46E5"/>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663440" y="1097280"/>
            <a:ext cx="1874520" cy="1097280"/>
          </a:xfrm>
          <a:prstGeom prst="roundRect">
            <a:avLst>
              <a:gd name="adj" fmla="val 8333"/>
            </a:avLst>
          </a:prstGeom>
          <a:solidFill>
            <a:srgbClr val="FFFFFF"/>
          </a:solidFill>
          <a:ln w="12700">
            <a:solidFill>
              <a:srgbClr val="DDD6FE"/>
            </a:solidFill>
            <a:prstDash val="solid"/>
          </a:ln>
          <a:effectLst>
            <a:outerShdw blurRad="76200" dist="25400" dir="5400000" algn="bl" rotWithShape="0">
              <a:srgbClr val="000000">
                <a:alpha val="15000"/>
              </a:srgbClr>
            </a:outerShdw>
          </a:effectLst>
        </p:spPr>
      </p:sp>
      <p:sp>
        <p:nvSpPr>
          <p:cNvPr id="16" name="Shape 14"/>
          <p:cNvSpPr/>
          <p:nvPr/>
        </p:nvSpPr>
        <p:spPr>
          <a:xfrm>
            <a:off x="4773168" y="1188720"/>
            <a:ext cx="329184" cy="329184"/>
          </a:xfrm>
          <a:prstGeom prst="ellipse">
            <a:avLst/>
          </a:prstGeom>
          <a:solidFill>
            <a:srgbClr val="F43F5E"/>
          </a:solidFill>
          <a:ln w="19050">
            <a:solidFill>
              <a:srgbClr val="FFFFFF"/>
            </a:solidFill>
            <a:prstDash val="solid"/>
          </a:ln>
        </p:spPr>
      </p:sp>
      <p:sp>
        <p:nvSpPr>
          <p:cNvPr id="17" name="Text 15"/>
          <p:cNvSpPr txBox="1"/>
          <p:nvPr/>
        </p:nvSpPr>
        <p:spPr>
          <a:xfrm>
            <a:off x="4773168" y="11887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5166360" y="1188720"/>
            <a:ext cx="1325880" cy="329184"/>
          </a:xfrm>
          <a:prstGeom prst="rect">
            <a:avLst/>
          </a:prstGeom>
          <a:noFill/>
          <a:ln/>
        </p:spPr>
        <p:txBody>
          <a:bodyPr wrap="square" lIns="0" tIns="0" rIns="0" bIns="0" rtlCol="0" anchor="ctr"/>
          <a:lstStyle/>
          <a:p>
            <a:pPr marL="0" indent="0">
              <a:buNone/>
            </a:pPr>
            <a:r>
              <a:rPr lang="en-US" sz="1400" b="1" dirty="0">
                <a:solidFill>
                  <a:srgbClr val="1E1B4B"/>
                </a:solidFill>
                <a:latin typeface="Calibri" pitchFamily="34" charset="0"/>
                <a:ea typeface="Calibri" pitchFamily="34" charset="-122"/>
                <a:cs typeface="Calibri" pitchFamily="34" charset="-120"/>
              </a:rPr>
              <a:t>Doctor is free</a:t>
            </a:r>
            <a:endParaRPr lang="en-US" sz="1400" dirty="0"/>
          </a:p>
        </p:txBody>
      </p:sp>
      <p:sp>
        <p:nvSpPr>
          <p:cNvPr id="19" name="Text 17"/>
          <p:cNvSpPr txBox="1"/>
          <p:nvPr/>
        </p:nvSpPr>
        <p:spPr>
          <a:xfrm>
            <a:off x="4800600" y="1600200"/>
            <a:ext cx="164592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Look at the top (root) of the heap</a:t>
            </a:r>
            <a:endParaRPr lang="en-US" sz="1200" dirty="0"/>
          </a:p>
        </p:txBody>
      </p:sp>
      <p:sp>
        <p:nvSpPr>
          <p:cNvPr id="20" name="Text 18"/>
          <p:cNvSpPr txBox="1"/>
          <p:nvPr/>
        </p:nvSpPr>
        <p:spPr>
          <a:xfrm>
            <a:off x="6537960" y="1417320"/>
            <a:ext cx="228600" cy="365760"/>
          </a:xfrm>
          <a:prstGeom prst="rect">
            <a:avLst/>
          </a:prstGeom>
          <a:noFill/>
          <a:ln/>
        </p:spPr>
        <p:txBody>
          <a:bodyPr wrap="square" lIns="0" tIns="0" rIns="0" bIns="0" rtlCol="0" anchor="ctr"/>
          <a:lstStyle/>
          <a:p>
            <a:pPr marL="0" indent="0" algn="ctr">
              <a:buNone/>
            </a:pPr>
            <a:r>
              <a:rPr lang="en-US" sz="1800" b="1" dirty="0">
                <a:solidFill>
                  <a:srgbClr val="4F46E5"/>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6766560" y="1097280"/>
            <a:ext cx="1874520" cy="1097280"/>
          </a:xfrm>
          <a:prstGeom prst="roundRect">
            <a:avLst>
              <a:gd name="adj" fmla="val 8333"/>
            </a:avLst>
          </a:prstGeom>
          <a:solidFill>
            <a:srgbClr val="FFFFFF"/>
          </a:solidFill>
          <a:ln w="12700">
            <a:solidFill>
              <a:srgbClr val="DDD6FE"/>
            </a:solidFill>
            <a:prstDash val="solid"/>
          </a:ln>
          <a:effectLst>
            <a:outerShdw blurRad="76200" dist="25400" dir="5400000" algn="bl" rotWithShape="0">
              <a:srgbClr val="000000">
                <a:alpha val="15000"/>
              </a:srgbClr>
            </a:outerShdw>
          </a:effectLst>
        </p:spPr>
      </p:sp>
      <p:sp>
        <p:nvSpPr>
          <p:cNvPr id="22" name="Shape 20"/>
          <p:cNvSpPr/>
          <p:nvPr/>
        </p:nvSpPr>
        <p:spPr>
          <a:xfrm>
            <a:off x="6876288" y="1188720"/>
            <a:ext cx="329184" cy="329184"/>
          </a:xfrm>
          <a:prstGeom prst="ellipse">
            <a:avLst/>
          </a:prstGeom>
          <a:solidFill>
            <a:srgbClr val="F43F5E"/>
          </a:solidFill>
          <a:ln w="19050">
            <a:solidFill>
              <a:srgbClr val="FFFFFF"/>
            </a:solidFill>
            <a:prstDash val="solid"/>
          </a:ln>
        </p:spPr>
      </p:sp>
      <p:sp>
        <p:nvSpPr>
          <p:cNvPr id="23" name="Text 21"/>
          <p:cNvSpPr txBox="1"/>
          <p:nvPr/>
        </p:nvSpPr>
        <p:spPr>
          <a:xfrm>
            <a:off x="6876288" y="11887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7269480" y="1188720"/>
            <a:ext cx="1325880" cy="329184"/>
          </a:xfrm>
          <a:prstGeom prst="rect">
            <a:avLst/>
          </a:prstGeom>
          <a:noFill/>
          <a:ln/>
        </p:spPr>
        <p:txBody>
          <a:bodyPr wrap="square" lIns="0" tIns="0" rIns="0" bIns="0" rtlCol="0" anchor="ctr"/>
          <a:lstStyle/>
          <a:p>
            <a:pPr marL="0" indent="0">
              <a:buNone/>
            </a:pPr>
            <a:r>
              <a:rPr lang="en-US" sz="1400" b="1" dirty="0">
                <a:solidFill>
                  <a:srgbClr val="1E1B4B"/>
                </a:solidFill>
                <a:latin typeface="Calibri" pitchFamily="34" charset="0"/>
                <a:ea typeface="Calibri" pitchFamily="34" charset="-122"/>
                <a:cs typeface="Calibri" pitchFamily="34" charset="-120"/>
              </a:rPr>
              <a:t>Treat the root</a:t>
            </a:r>
            <a:endParaRPr lang="en-US" sz="1400" dirty="0"/>
          </a:p>
        </p:txBody>
      </p:sp>
      <p:sp>
        <p:nvSpPr>
          <p:cNvPr id="25" name="Text 23"/>
          <p:cNvSpPr txBox="1"/>
          <p:nvPr/>
        </p:nvSpPr>
        <p:spPr>
          <a:xfrm>
            <a:off x="6903720" y="1600200"/>
            <a:ext cx="1645920" cy="5486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Remove it, then fix the heap</a:t>
            </a:r>
            <a:endParaRPr lang="en-US" sz="1200" dirty="0"/>
          </a:p>
        </p:txBody>
      </p:sp>
      <p:sp>
        <p:nvSpPr>
          <p:cNvPr id="26" name="Text 24"/>
          <p:cNvSpPr txBox="1"/>
          <p:nvPr/>
        </p:nvSpPr>
        <p:spPr>
          <a:xfrm>
            <a:off x="457200" y="2514600"/>
            <a:ext cx="3931920" cy="274320"/>
          </a:xfrm>
          <a:prstGeom prst="rect">
            <a:avLst/>
          </a:prstGeom>
          <a:noFill/>
          <a:ln/>
        </p:spPr>
        <p:txBody>
          <a:bodyPr wrap="square" lIns="0" tIns="0" rIns="0" bIns="0" rtlCol="0" anchor="ctr"/>
          <a:lstStyle/>
          <a:p>
            <a:pPr marL="0" indent="0">
              <a:buNone/>
            </a:pPr>
            <a:r>
              <a:rPr lang="en-US" sz="1200" b="1" kern="0" spc="200" dirty="0">
                <a:solidFill>
                  <a:srgbClr val="4F46E5"/>
                </a:solidFill>
                <a:latin typeface="Calibri" pitchFamily="34" charset="0"/>
                <a:ea typeface="Calibri" pitchFamily="34" charset="-122"/>
                <a:cs typeface="Calibri" pitchFamily="34" charset="-120"/>
              </a:rPr>
              <a:t>WHY NOT A SIMPLE LIST?</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2788920"/>
          <a:ext cx="4114800" cy="1536192"/>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Structure</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solidFill>
                      <a:srgbClr val="1E1B4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Insert</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solidFill>
                      <a:srgbClr val="1E1B4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Get next</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solidFill>
                      <a:srgbClr val="1E1B4B"/>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1E1B4B"/>
                          </a:solidFill>
                          <a:latin typeface="Calibri" pitchFamily="34" charset="0"/>
                          <a:ea typeface="Calibri" pitchFamily="34" charset="-122"/>
                          <a:cs typeface="Calibri" pitchFamily="34" charset="-120"/>
                        </a:rPr>
                        <a:t>Unsorted list</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tcPr>
                </a:tc>
                <a:tc>
                  <a:txBody>
                    <a:bodyPr/>
                    <a:lstStyle/>
                    <a:p>
                      <a:pPr marL="0" indent="0" algn="ctr">
                        <a:buNone/>
                      </a:pPr>
                      <a:r>
                        <a:rPr lang="en-US" sz="1200" dirty="0">
                          <a:solidFill>
                            <a:srgbClr val="1E1B4B"/>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tcPr>
                </a:tc>
                <a:tc>
                  <a:txBody>
                    <a:bodyPr/>
                    <a:lstStyle/>
                    <a:p>
                      <a:pPr marL="0" indent="0" algn="ctr">
                        <a:buNone/>
                      </a:pPr>
                      <a:r>
                        <a:rPr lang="en-US" sz="1200" dirty="0">
                          <a:solidFill>
                            <a:srgbClr val="1E1B4B"/>
                          </a:solidFill>
                          <a:latin typeface="Calibri" pitchFamily="34" charset="0"/>
                          <a:ea typeface="Calibri" pitchFamily="34" charset="-122"/>
                          <a:cs typeface="Calibri" pitchFamily="34" charset="-120"/>
                        </a:rPr>
                        <a:t>O(n)  scan all</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1E1B4B"/>
                          </a:solidFill>
                          <a:latin typeface="Calibri" pitchFamily="34" charset="0"/>
                          <a:ea typeface="Calibri" pitchFamily="34" charset="-122"/>
                          <a:cs typeface="Calibri" pitchFamily="34" charset="-120"/>
                        </a:rPr>
                        <a:t>Sorted list</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tcPr>
                </a:tc>
                <a:tc>
                  <a:txBody>
                    <a:bodyPr/>
                    <a:lstStyle/>
                    <a:p>
                      <a:pPr marL="0" indent="0" algn="ctr">
                        <a:buNone/>
                      </a:pPr>
                      <a:r>
                        <a:rPr lang="en-US" sz="1200" dirty="0">
                          <a:solidFill>
                            <a:srgbClr val="1E1B4B"/>
                          </a:solidFill>
                          <a:latin typeface="Calibri" pitchFamily="34" charset="0"/>
                          <a:ea typeface="Calibri" pitchFamily="34" charset="-122"/>
                          <a:cs typeface="Calibri" pitchFamily="34" charset="-120"/>
                        </a:rPr>
                        <a:t>O(n)  shift</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tcPr>
                </a:tc>
                <a:tc>
                  <a:txBody>
                    <a:bodyPr/>
                    <a:lstStyle/>
                    <a:p>
                      <a:pPr marL="0" indent="0" algn="ctr">
                        <a:buNone/>
                      </a:pPr>
                      <a:r>
                        <a:rPr lang="en-US" sz="1200" dirty="0">
                          <a:solidFill>
                            <a:srgbClr val="1E1B4B"/>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Binary heap</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solidFill>
                      <a:srgbClr val="4F46E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O(log n)</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solidFill>
                      <a:srgbClr val="4F46E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O(log n)</a:t>
                      </a:r>
                      <a:endParaRPr lang="en-US" sz="1200" dirty="0">
                        <a:latin typeface="Calibri" charset="0"/>
                        <a:ea typeface="Calibri" charset="0"/>
                        <a:cs typeface="Calibri" charset="0"/>
                      </a:endParaRPr>
                    </a:p>
                  </a:txBody>
                  <a:tcPr>
                    <a:lnL w="12700" cap="flat" cmpd="sng" algn="ctr">
                      <a:solidFill>
                        <a:srgbClr val="DDD6FE"/>
                      </a:solidFill>
                      <a:prstDash val="solid"/>
                      <a:round/>
                      <a:headEnd type="none" w="med" len="med"/>
                      <a:tailEnd type="none" w="med" len="med"/>
                    </a:lnL>
                    <a:lnR w="12700" cap="flat" cmpd="sng" algn="ctr">
                      <a:solidFill>
                        <a:srgbClr val="DDD6FE"/>
                      </a:solidFill>
                      <a:prstDash val="solid"/>
                      <a:round/>
                      <a:headEnd type="none" w="med" len="med"/>
                      <a:tailEnd type="none" w="med" len="med"/>
                    </a:lnR>
                    <a:lnT w="12700" cap="flat" cmpd="sng" algn="ctr">
                      <a:solidFill>
                        <a:srgbClr val="DDD6FE"/>
                      </a:solidFill>
                      <a:prstDash val="solid"/>
                      <a:round/>
                      <a:headEnd type="none" w="med" len="med"/>
                      <a:tailEnd type="none" w="med" len="med"/>
                    </a:lnT>
                    <a:lnB w="12700" cap="flat" cmpd="sng" algn="ctr">
                      <a:solidFill>
                        <a:srgbClr val="DDD6FE"/>
                      </a:solidFill>
                      <a:prstDash val="solid"/>
                      <a:round/>
                      <a:headEnd type="none" w="med" len="med"/>
                      <a:tailEnd type="none" w="med" len="med"/>
                    </a:lnB>
                    <a:solidFill>
                      <a:srgbClr val="4F46E5"/>
                    </a:solidFill>
                  </a:tcPr>
                </a:tc>
                <a:extLst>
                  <a:ext uri="{0D108BD9-81ED-4DB2-BD59-A6C34878D82A}">
                    <a16:rowId xmlns:a16="http://schemas.microsoft.com/office/drawing/2014/main" val="10003"/>
                  </a:ext>
                </a:extLst>
              </a:tr>
            </a:tbl>
          </a:graphicData>
        </a:graphic>
      </p:graphicFrame>
      <p:sp>
        <p:nvSpPr>
          <p:cNvPr id="28" name="Text 25"/>
          <p:cNvSpPr txBox="1"/>
          <p:nvPr/>
        </p:nvSpPr>
        <p:spPr>
          <a:xfrm>
            <a:off x="4937760" y="2514600"/>
            <a:ext cx="3657600" cy="274320"/>
          </a:xfrm>
          <a:prstGeom prst="rect">
            <a:avLst/>
          </a:prstGeom>
          <a:noFill/>
          <a:ln/>
        </p:spPr>
        <p:txBody>
          <a:bodyPr wrap="square" lIns="0" tIns="0" rIns="0" bIns="0" rtlCol="0" anchor="ctr"/>
          <a:lstStyle/>
          <a:p>
            <a:pPr marL="0" indent="0">
              <a:buNone/>
            </a:pPr>
            <a:r>
              <a:rPr lang="en-US" sz="1200" b="1" kern="0" spc="200" dirty="0">
                <a:solidFill>
                  <a:srgbClr val="4F46E5"/>
                </a:solidFill>
                <a:latin typeface="Calibri" pitchFamily="34" charset="0"/>
                <a:ea typeface="Calibri" pitchFamily="34" charset="-122"/>
                <a:cs typeface="Calibri" pitchFamily="34" charset="-120"/>
              </a:rPr>
              <a:t>THE IDEA</a:t>
            </a:r>
            <a:endParaRPr lang="en-US" sz="1200" dirty="0"/>
          </a:p>
        </p:txBody>
      </p:sp>
      <p:sp>
        <p:nvSpPr>
          <p:cNvPr id="29" name="Text 26"/>
          <p:cNvSpPr txBox="1"/>
          <p:nvPr/>
        </p:nvSpPr>
        <p:spPr>
          <a:xfrm>
            <a:off x="4937760" y="2788920"/>
            <a:ext cx="3749040" cy="15544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1B4B"/>
                </a:solidFill>
                <a:latin typeface="Calibri" pitchFamily="34" charset="0"/>
                <a:ea typeface="Calibri" pitchFamily="34" charset="-122"/>
                <a:cs typeface="Calibri" pitchFamily="34" charset="-120"/>
              </a:rPr>
              <a:t>Use a Priority Queue: always serve the highest priority first</a:t>
            </a:r>
            <a:endParaRPr lang="en-US" sz="1300" dirty="0"/>
          </a:p>
          <a:p>
            <a:pPr marL="342900" indent="-342900">
              <a:spcAft>
                <a:spcPts val="400"/>
              </a:spcAft>
              <a:buSzPct val="100000"/>
              <a:buChar char="•"/>
            </a:pPr>
            <a:r>
              <a:rPr lang="en-US" sz="1300" dirty="0">
                <a:solidFill>
                  <a:srgbClr val="1E1B4B"/>
                </a:solidFill>
                <a:latin typeface="Calibri" pitchFamily="34" charset="0"/>
                <a:ea typeface="Calibri" pitchFamily="34" charset="-122"/>
                <a:cs typeface="Calibri" pitchFamily="34" charset="-120"/>
              </a:rPr>
              <a:t>Build it with a Binary Max-Heap: the most urgent patient sits at the root</a:t>
            </a:r>
            <a:endParaRPr lang="en-US" sz="1300" dirty="0"/>
          </a:p>
          <a:p>
            <a:pPr marL="342900" indent="-342900">
              <a:spcAft>
                <a:spcPts val="400"/>
              </a:spcAft>
              <a:buSzPct val="100000"/>
              <a:buChar char="•"/>
            </a:pPr>
            <a:r>
              <a:rPr lang="en-US" sz="1300" dirty="0">
                <a:solidFill>
                  <a:srgbClr val="1E1B4B"/>
                </a:solidFill>
                <a:latin typeface="Calibri" pitchFamily="34" charset="0"/>
                <a:ea typeface="Calibri" pitchFamily="34" charset="-122"/>
                <a:cs typeface="Calibri" pitchFamily="34" charset="-120"/>
              </a:rPr>
              <a:t>Equal priority? An arrival number breaks the tie</a:t>
            </a:r>
            <a:endParaRPr lang="en-US" sz="1300" dirty="0"/>
          </a:p>
          <a:p>
            <a:pPr marL="342900" indent="-342900">
              <a:spcAft>
                <a:spcPts val="400"/>
              </a:spcAft>
              <a:buSzPct val="100000"/>
              <a:buChar char="•"/>
            </a:pPr>
            <a:r>
              <a:rPr lang="en-US" sz="1300" dirty="0">
                <a:solidFill>
                  <a:srgbClr val="1E1B4B"/>
                </a:solidFill>
                <a:latin typeface="Calibri" pitchFamily="34" charset="0"/>
                <a:ea typeface="Calibri" pitchFamily="34" charset="-122"/>
                <a:cs typeface="Calibri" pitchFamily="34" charset="-120"/>
              </a:rPr>
              <a:t>Both insert and 'next patient' take only O(log n)</a:t>
            </a:r>
            <a:endParaRPr lang="en-US" sz="1300" dirty="0"/>
          </a:p>
        </p:txBody>
      </p:sp>
      <p:sp>
        <p:nvSpPr>
          <p:cNvPr id="30" name="Text 27"/>
          <p:cNvSpPr txBox="1"/>
          <p:nvPr/>
        </p:nvSpPr>
        <p:spPr>
          <a:xfrm>
            <a:off x="457200" y="4343400"/>
            <a:ext cx="8229600" cy="365760"/>
          </a:xfrm>
          <a:prstGeom prst="rect">
            <a:avLst/>
          </a:prstGeom>
          <a:noFill/>
          <a:ln/>
        </p:spPr>
        <p:txBody>
          <a:bodyPr wrap="square" lIns="0" tIns="0" rIns="0" bIns="0" rtlCol="0" anchor="ctr"/>
          <a:lstStyle/>
          <a:p>
            <a:pPr marL="0" indent="0">
              <a:buNone/>
            </a:pPr>
            <a:r>
              <a:rPr lang="en-US" sz="1600" i="1" dirty="0">
                <a:solidFill>
                  <a:srgbClr val="4F46E5"/>
                </a:solidFill>
                <a:latin typeface="Cambria" pitchFamily="34" charset="0"/>
                <a:ea typeface="Cambria" pitchFamily="34" charset="-122"/>
                <a:cs typeface="Cambria" pitchFamily="34" charset="-120"/>
              </a:rPr>
              <a:t>Priority Queue = the idea.   Binary Heap = how we build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E1B4B"/>
                </a:solidFill>
                <a:latin typeface="Cambria" pitchFamily="34" charset="0"/>
                <a:ea typeface="Cambria" pitchFamily="34" charset="-122"/>
                <a:cs typeface="Cambria" pitchFamily="34" charset="-120"/>
              </a:rPr>
              <a:t>What is a Max-Heap?</a:t>
            </a:r>
            <a:endParaRPr lang="en-US" sz="3200" dirty="0"/>
          </a:p>
        </p:txBody>
      </p:sp>
      <p:sp>
        <p:nvSpPr>
          <p:cNvPr id="3" name="Text 1"/>
          <p:cNvSpPr txBox="1"/>
          <p:nvPr/>
        </p:nvSpPr>
        <p:spPr>
          <a:xfrm>
            <a:off x="457200" y="1097280"/>
            <a:ext cx="4114800" cy="2468880"/>
          </a:xfrm>
          <a:prstGeom prst="rect">
            <a:avLst/>
          </a:prstGeom>
          <a:noFill/>
          <a:ln/>
        </p:spPr>
        <p:txBody>
          <a:bodyPr wrap="square" lIns="0" tIns="0" rIns="0" bIns="0" rtlCol="0" anchor="ctr"/>
          <a:lstStyle/>
          <a:p>
            <a:pPr marL="342900" indent="-342900">
              <a:spcAft>
                <a:spcPts val="800"/>
              </a:spcAft>
              <a:buSzPct val="100000"/>
              <a:buChar char="•"/>
            </a:pPr>
            <a:r>
              <a:rPr lang="en-US" sz="1400" b="1" dirty="0">
                <a:solidFill>
                  <a:srgbClr val="1E1B4B"/>
                </a:solidFill>
                <a:latin typeface="Calibri" pitchFamily="34" charset="0"/>
                <a:ea typeface="Calibri" pitchFamily="34" charset="-122"/>
                <a:cs typeface="Calibri" pitchFamily="34" charset="-120"/>
              </a:rPr>
              <a:t>Complete binary tree: </a:t>
            </a:r>
            <a:r>
              <a:rPr lang="en-US" sz="1400" dirty="0">
                <a:solidFill>
                  <a:srgbClr val="1E1B4B"/>
                </a:solidFill>
                <a:latin typeface="Calibri" pitchFamily="34" charset="0"/>
                <a:ea typeface="Calibri" pitchFamily="34" charset="-122"/>
                <a:cs typeface="Calibri" pitchFamily="34" charset="-120"/>
              </a:rPr>
              <a:t>every level is full except possibly the last, filled left to right</a:t>
            </a:r>
            <a:endParaRPr lang="en-US" sz="1400" dirty="0"/>
          </a:p>
          <a:p>
            <a:pPr marL="342900" indent="-342900">
              <a:spcAft>
                <a:spcPts val="800"/>
              </a:spcAft>
              <a:buSzPct val="100000"/>
              <a:buChar char="•"/>
            </a:pPr>
            <a:r>
              <a:rPr lang="en-US" sz="1400" b="1" dirty="0">
                <a:solidFill>
                  <a:srgbClr val="1E1B4B"/>
                </a:solidFill>
                <a:latin typeface="Calibri" pitchFamily="34" charset="0"/>
                <a:ea typeface="Calibri" pitchFamily="34" charset="-122"/>
                <a:cs typeface="Calibri" pitchFamily="34" charset="-120"/>
              </a:rPr>
              <a:t>Max-heap property: </a:t>
            </a:r>
            <a:r>
              <a:rPr lang="en-US" sz="1400" dirty="0">
                <a:solidFill>
                  <a:srgbClr val="1E1B4B"/>
                </a:solidFill>
                <a:latin typeface="Calibri" pitchFamily="34" charset="0"/>
                <a:ea typeface="Calibri" pitchFamily="34" charset="-122"/>
                <a:cs typeface="Calibri" pitchFamily="34" charset="-120"/>
              </a:rPr>
              <a:t>every parent is at least as urgent as its children</a:t>
            </a:r>
            <a:endParaRPr lang="en-US" sz="1400" dirty="0"/>
          </a:p>
          <a:p>
            <a:pPr marL="342900" indent="-342900">
              <a:spcAft>
                <a:spcPts val="800"/>
              </a:spcAft>
              <a:buSzPct val="100000"/>
              <a:buChar char="•"/>
            </a:pPr>
            <a:r>
              <a:rPr lang="en-US" sz="1400" b="1" dirty="0">
                <a:solidFill>
                  <a:srgbClr val="1E1B4B"/>
                </a:solidFill>
                <a:latin typeface="Calibri" pitchFamily="34" charset="0"/>
                <a:ea typeface="Calibri" pitchFamily="34" charset="-122"/>
                <a:cs typeface="Calibri" pitchFamily="34" charset="-120"/>
              </a:rPr>
              <a:t>Root = most urgent: </a:t>
            </a:r>
            <a:r>
              <a:rPr lang="en-US" sz="1400" dirty="0">
                <a:solidFill>
                  <a:srgbClr val="1E1B4B"/>
                </a:solidFill>
                <a:latin typeface="Calibri" pitchFamily="34" charset="0"/>
                <a:ea typeface="Calibri" pitchFamily="34" charset="-122"/>
                <a:cs typeface="Calibri" pitchFamily="34" charset="-120"/>
              </a:rPr>
              <a:t>the next patient is always at index 0</a:t>
            </a:r>
            <a:endParaRPr lang="en-US" sz="1400" dirty="0"/>
          </a:p>
          <a:p>
            <a:pPr marL="342900" indent="-342900">
              <a:spcAft>
                <a:spcPts val="800"/>
              </a:spcAft>
              <a:buSzPct val="100000"/>
              <a:buChar char="•"/>
            </a:pPr>
            <a:r>
              <a:rPr lang="en-US" sz="1400" b="1" dirty="0">
                <a:solidFill>
                  <a:srgbClr val="1E1B4B"/>
                </a:solidFill>
                <a:latin typeface="Calibri" pitchFamily="34" charset="0"/>
                <a:ea typeface="Calibri" pitchFamily="34" charset="-122"/>
                <a:cs typeface="Calibri" pitchFamily="34" charset="-120"/>
              </a:rPr>
              <a:t>Stored in an array: </a:t>
            </a:r>
            <a:r>
              <a:rPr lang="en-US" sz="1400" dirty="0">
                <a:solidFill>
                  <a:srgbClr val="1E1B4B"/>
                </a:solidFill>
                <a:latin typeface="Calibri" pitchFamily="34" charset="0"/>
                <a:ea typeface="Calibri" pitchFamily="34" charset="-122"/>
                <a:cs typeface="Calibri" pitchFamily="34" charset="-120"/>
              </a:rPr>
              <a:t>no pointers needed, use index formulas</a:t>
            </a:r>
            <a:endParaRPr lang="en-US" sz="1400" dirty="0"/>
          </a:p>
        </p:txBody>
      </p:sp>
      <p:sp>
        <p:nvSpPr>
          <p:cNvPr id="4" name="Text 2"/>
          <p:cNvSpPr txBox="1"/>
          <p:nvPr/>
        </p:nvSpPr>
        <p:spPr>
          <a:xfrm>
            <a:off x="457200" y="3566160"/>
            <a:ext cx="4114800" cy="274320"/>
          </a:xfrm>
          <a:prstGeom prst="rect">
            <a:avLst/>
          </a:prstGeom>
          <a:noFill/>
          <a:ln/>
        </p:spPr>
        <p:txBody>
          <a:bodyPr wrap="square" lIns="0" tIns="0" rIns="0" bIns="0" rtlCol="0" anchor="ctr"/>
          <a:lstStyle/>
          <a:p>
            <a:pPr marL="0" indent="0">
              <a:buNone/>
            </a:pPr>
            <a:r>
              <a:rPr lang="en-US" sz="1200" b="1" kern="0" spc="200" dirty="0">
                <a:solidFill>
                  <a:srgbClr val="4F46E5"/>
                </a:solidFill>
                <a:latin typeface="Calibri" pitchFamily="34" charset="0"/>
                <a:ea typeface="Calibri" pitchFamily="34" charset="-122"/>
                <a:cs typeface="Calibri" pitchFamily="34" charset="-120"/>
              </a:rPr>
              <a:t>INDEX FORMULAS  (node at i)</a:t>
            </a:r>
            <a:endParaRPr lang="en-US" sz="1200" dirty="0"/>
          </a:p>
        </p:txBody>
      </p:sp>
      <p:sp>
        <p:nvSpPr>
          <p:cNvPr id="5" name="Shape 3"/>
          <p:cNvSpPr/>
          <p:nvPr/>
        </p:nvSpPr>
        <p:spPr>
          <a:xfrm>
            <a:off x="457200" y="3840480"/>
            <a:ext cx="4114800" cy="868680"/>
          </a:xfrm>
          <a:prstGeom prst="roundRect">
            <a:avLst>
              <a:gd name="adj" fmla="val 10526"/>
            </a:avLst>
          </a:prstGeom>
          <a:solidFill>
            <a:srgbClr val="1E1B4B"/>
          </a:solidFill>
          <a:ln w="12700">
            <a:solidFill>
              <a:srgbClr val="1E1B4B"/>
            </a:solidFill>
            <a:prstDash val="solid"/>
          </a:ln>
        </p:spPr>
      </p:sp>
      <p:sp>
        <p:nvSpPr>
          <p:cNvPr id="6" name="Text 4"/>
          <p:cNvSpPr txBox="1"/>
          <p:nvPr/>
        </p:nvSpPr>
        <p:spPr>
          <a:xfrm>
            <a:off x="594360" y="3840480"/>
            <a:ext cx="3840480" cy="868680"/>
          </a:xfrm>
          <a:prstGeom prst="rect">
            <a:avLst/>
          </a:prstGeom>
          <a:noFill/>
          <a:ln/>
        </p:spPr>
        <p:txBody>
          <a:bodyPr wrap="square" lIns="0" tIns="0" rIns="0" bIns="0" rtlCol="0" anchor="ctr"/>
          <a:lstStyle/>
          <a:p>
            <a:pPr marL="0" indent="0">
              <a:buNone/>
            </a:pPr>
            <a:r>
              <a:rPr lang="en-US" sz="1100" dirty="0">
                <a:solidFill>
                  <a:srgbClr val="DDD9FF"/>
                </a:solidFill>
                <a:latin typeface="Courier New" pitchFamily="34" charset="0"/>
                <a:ea typeface="Courier New" pitchFamily="34" charset="-122"/>
                <a:cs typeface="Courier New" pitchFamily="34" charset="-120"/>
              </a:rPr>
              <a:t>parent = (i - 1) // 2</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left   = 2*i + 1</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right  = 2*i + 2</a:t>
            </a:r>
            <a:endParaRPr lang="en-US" sz="1100" dirty="0"/>
          </a:p>
        </p:txBody>
      </p:sp>
      <p:sp>
        <p:nvSpPr>
          <p:cNvPr id="7" name="Shape 5"/>
          <p:cNvSpPr/>
          <p:nvPr/>
        </p:nvSpPr>
        <p:spPr>
          <a:xfrm>
            <a:off x="4846320" y="1097280"/>
            <a:ext cx="3840480" cy="3611880"/>
          </a:xfrm>
          <a:prstGeom prst="roundRect">
            <a:avLst>
              <a:gd name="adj" fmla="val 2532"/>
            </a:avLst>
          </a:prstGeom>
          <a:solidFill>
            <a:srgbClr val="F5F3FF"/>
          </a:solidFill>
          <a:ln w="12700">
            <a:solidFill>
              <a:srgbClr val="F5F3FF"/>
            </a:solidFill>
            <a:prstDash val="solid"/>
          </a:ln>
        </p:spPr>
      </p:sp>
      <p:sp>
        <p:nvSpPr>
          <p:cNvPr id="8" name="Shape 6"/>
          <p:cNvSpPr/>
          <p:nvPr/>
        </p:nvSpPr>
        <p:spPr>
          <a:xfrm flipH="1">
            <a:off x="5760720" y="1691640"/>
            <a:ext cx="1005840" cy="914400"/>
          </a:xfrm>
          <a:prstGeom prst="line">
            <a:avLst/>
          </a:prstGeom>
          <a:noFill/>
          <a:ln w="19050">
            <a:solidFill>
              <a:srgbClr val="4F46E5"/>
            </a:solidFill>
            <a:prstDash val="solid"/>
          </a:ln>
        </p:spPr>
      </p:sp>
      <p:sp>
        <p:nvSpPr>
          <p:cNvPr id="9" name="Shape 7"/>
          <p:cNvSpPr/>
          <p:nvPr/>
        </p:nvSpPr>
        <p:spPr>
          <a:xfrm>
            <a:off x="6766560" y="1691640"/>
            <a:ext cx="1005840" cy="914400"/>
          </a:xfrm>
          <a:prstGeom prst="line">
            <a:avLst/>
          </a:prstGeom>
          <a:noFill/>
          <a:ln w="19050">
            <a:solidFill>
              <a:srgbClr val="4F46E5"/>
            </a:solidFill>
            <a:prstDash val="solid"/>
          </a:ln>
        </p:spPr>
      </p:sp>
      <p:sp>
        <p:nvSpPr>
          <p:cNvPr id="10" name="Shape 8"/>
          <p:cNvSpPr/>
          <p:nvPr/>
        </p:nvSpPr>
        <p:spPr>
          <a:xfrm flipH="1">
            <a:off x="5257800" y="2606040"/>
            <a:ext cx="502920" cy="868680"/>
          </a:xfrm>
          <a:prstGeom prst="line">
            <a:avLst/>
          </a:prstGeom>
          <a:noFill/>
          <a:ln w="19050">
            <a:solidFill>
              <a:srgbClr val="4F46E5"/>
            </a:solidFill>
            <a:prstDash val="solid"/>
          </a:ln>
        </p:spPr>
      </p:sp>
      <p:sp>
        <p:nvSpPr>
          <p:cNvPr id="11" name="Shape 9"/>
          <p:cNvSpPr/>
          <p:nvPr/>
        </p:nvSpPr>
        <p:spPr>
          <a:xfrm>
            <a:off x="5760720" y="2606040"/>
            <a:ext cx="502920" cy="868680"/>
          </a:xfrm>
          <a:prstGeom prst="line">
            <a:avLst/>
          </a:prstGeom>
          <a:noFill/>
          <a:ln w="19050">
            <a:solidFill>
              <a:srgbClr val="4F46E5"/>
            </a:solidFill>
            <a:prstDash val="solid"/>
          </a:ln>
        </p:spPr>
      </p:sp>
      <p:sp>
        <p:nvSpPr>
          <p:cNvPr id="12" name="Shape 10"/>
          <p:cNvSpPr/>
          <p:nvPr/>
        </p:nvSpPr>
        <p:spPr>
          <a:xfrm>
            <a:off x="6446520" y="1371600"/>
            <a:ext cx="640080" cy="640080"/>
          </a:xfrm>
          <a:prstGeom prst="ellipse">
            <a:avLst/>
          </a:prstGeom>
          <a:solidFill>
            <a:srgbClr val="F43F5E"/>
          </a:solidFill>
          <a:ln w="19050">
            <a:solidFill>
              <a:srgbClr val="FFFFFF"/>
            </a:solidFill>
            <a:prstDash val="solid"/>
          </a:ln>
        </p:spPr>
      </p:sp>
      <p:sp>
        <p:nvSpPr>
          <p:cNvPr id="13" name="Text 11"/>
          <p:cNvSpPr txBox="1"/>
          <p:nvPr/>
        </p:nvSpPr>
        <p:spPr>
          <a:xfrm>
            <a:off x="6446520" y="1371600"/>
            <a:ext cx="6400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Y:5</a:t>
            </a:r>
            <a:endParaRPr lang="en-US" sz="1300" dirty="0"/>
          </a:p>
        </p:txBody>
      </p:sp>
      <p:sp>
        <p:nvSpPr>
          <p:cNvPr id="14" name="Shape 12"/>
          <p:cNvSpPr/>
          <p:nvPr/>
        </p:nvSpPr>
        <p:spPr>
          <a:xfrm>
            <a:off x="5440680" y="2286000"/>
            <a:ext cx="640080" cy="640080"/>
          </a:xfrm>
          <a:prstGeom prst="ellipse">
            <a:avLst/>
          </a:prstGeom>
          <a:solidFill>
            <a:srgbClr val="4F46E5"/>
          </a:solidFill>
          <a:ln w="19050">
            <a:solidFill>
              <a:srgbClr val="FFFFFF"/>
            </a:solidFill>
            <a:prstDash val="solid"/>
          </a:ln>
        </p:spPr>
      </p:sp>
      <p:sp>
        <p:nvSpPr>
          <p:cNvPr id="15" name="Text 13"/>
          <p:cNvSpPr txBox="1"/>
          <p:nvPr/>
        </p:nvSpPr>
        <p:spPr>
          <a:xfrm>
            <a:off x="5440680" y="2286000"/>
            <a:ext cx="6400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16" name="Shape 14"/>
          <p:cNvSpPr/>
          <p:nvPr/>
        </p:nvSpPr>
        <p:spPr>
          <a:xfrm>
            <a:off x="7452360" y="2286000"/>
            <a:ext cx="640080" cy="640080"/>
          </a:xfrm>
          <a:prstGeom prst="ellipse">
            <a:avLst/>
          </a:prstGeom>
          <a:solidFill>
            <a:srgbClr val="F43F5E"/>
          </a:solidFill>
          <a:ln w="19050">
            <a:solidFill>
              <a:srgbClr val="FFFFFF"/>
            </a:solidFill>
            <a:prstDash val="solid"/>
          </a:ln>
        </p:spPr>
      </p:sp>
      <p:sp>
        <p:nvSpPr>
          <p:cNvPr id="17" name="Text 15"/>
          <p:cNvSpPr txBox="1"/>
          <p:nvPr/>
        </p:nvSpPr>
        <p:spPr>
          <a:xfrm>
            <a:off x="7452360" y="2286000"/>
            <a:ext cx="6400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Z:5</a:t>
            </a:r>
            <a:endParaRPr lang="en-US" sz="1300" dirty="0"/>
          </a:p>
        </p:txBody>
      </p:sp>
      <p:sp>
        <p:nvSpPr>
          <p:cNvPr id="18" name="Shape 16"/>
          <p:cNvSpPr/>
          <p:nvPr/>
        </p:nvSpPr>
        <p:spPr>
          <a:xfrm>
            <a:off x="4937760" y="3154680"/>
            <a:ext cx="640080" cy="640080"/>
          </a:xfrm>
          <a:prstGeom prst="ellipse">
            <a:avLst/>
          </a:prstGeom>
          <a:solidFill>
            <a:srgbClr val="E08A00"/>
          </a:solidFill>
          <a:ln w="19050">
            <a:solidFill>
              <a:srgbClr val="FFFFFF"/>
            </a:solidFill>
            <a:prstDash val="solid"/>
          </a:ln>
        </p:spPr>
      </p:sp>
      <p:sp>
        <p:nvSpPr>
          <p:cNvPr id="19" name="Text 17"/>
          <p:cNvSpPr txBox="1"/>
          <p:nvPr/>
        </p:nvSpPr>
        <p:spPr>
          <a:xfrm>
            <a:off x="4937760" y="3154680"/>
            <a:ext cx="6400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X:2</a:t>
            </a:r>
            <a:endParaRPr lang="en-US" sz="1300" dirty="0"/>
          </a:p>
        </p:txBody>
      </p:sp>
      <p:sp>
        <p:nvSpPr>
          <p:cNvPr id="20" name="Shape 18"/>
          <p:cNvSpPr/>
          <p:nvPr/>
        </p:nvSpPr>
        <p:spPr>
          <a:xfrm>
            <a:off x="5943600" y="3154680"/>
            <a:ext cx="640080" cy="640080"/>
          </a:xfrm>
          <a:prstGeom prst="ellipse">
            <a:avLst/>
          </a:prstGeom>
          <a:solidFill>
            <a:srgbClr val="E08A00"/>
          </a:solidFill>
          <a:ln w="19050">
            <a:solidFill>
              <a:srgbClr val="FFFFFF"/>
            </a:solidFill>
            <a:prstDash val="solid"/>
          </a:ln>
        </p:spPr>
      </p:sp>
      <p:sp>
        <p:nvSpPr>
          <p:cNvPr id="21" name="Text 19"/>
          <p:cNvSpPr txBox="1"/>
          <p:nvPr/>
        </p:nvSpPr>
        <p:spPr>
          <a:xfrm>
            <a:off x="5943600" y="3154680"/>
            <a:ext cx="6400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22" name="Shape 20"/>
          <p:cNvSpPr/>
          <p:nvPr/>
        </p:nvSpPr>
        <p:spPr>
          <a:xfrm>
            <a:off x="5074920" y="4023360"/>
            <a:ext cx="566928" cy="411480"/>
          </a:xfrm>
          <a:prstGeom prst="roundRect">
            <a:avLst>
              <a:gd name="adj" fmla="val 22222"/>
            </a:avLst>
          </a:prstGeom>
          <a:solidFill>
            <a:srgbClr val="F5F3FF"/>
          </a:solidFill>
          <a:ln w="12700">
            <a:solidFill>
              <a:srgbClr val="4F46E5"/>
            </a:solidFill>
            <a:prstDash val="solid"/>
          </a:ln>
        </p:spPr>
      </p:sp>
      <p:sp>
        <p:nvSpPr>
          <p:cNvPr id="23" name="Text 21"/>
          <p:cNvSpPr txBox="1"/>
          <p:nvPr/>
        </p:nvSpPr>
        <p:spPr>
          <a:xfrm>
            <a:off x="5074920" y="4023360"/>
            <a:ext cx="566928" cy="411480"/>
          </a:xfrm>
          <a:prstGeom prst="rect">
            <a:avLst/>
          </a:prstGeom>
          <a:noFill/>
          <a:ln/>
        </p:spPr>
        <p:txBody>
          <a:bodyPr wrap="square" lIns="0" tIns="0" rIns="0" bIns="0"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Y5</a:t>
            </a:r>
            <a:endParaRPr lang="en-US" sz="1300" dirty="0"/>
          </a:p>
        </p:txBody>
      </p:sp>
      <p:sp>
        <p:nvSpPr>
          <p:cNvPr id="24" name="Shape 22"/>
          <p:cNvSpPr/>
          <p:nvPr/>
        </p:nvSpPr>
        <p:spPr>
          <a:xfrm>
            <a:off x="5696712" y="4023360"/>
            <a:ext cx="566928" cy="411480"/>
          </a:xfrm>
          <a:prstGeom prst="roundRect">
            <a:avLst>
              <a:gd name="adj" fmla="val 22222"/>
            </a:avLst>
          </a:prstGeom>
          <a:solidFill>
            <a:srgbClr val="F5F3FF"/>
          </a:solidFill>
          <a:ln w="12700">
            <a:solidFill>
              <a:srgbClr val="4F46E5"/>
            </a:solidFill>
            <a:prstDash val="solid"/>
          </a:ln>
        </p:spPr>
      </p:sp>
      <p:sp>
        <p:nvSpPr>
          <p:cNvPr id="25" name="Text 23"/>
          <p:cNvSpPr txBox="1"/>
          <p:nvPr/>
        </p:nvSpPr>
        <p:spPr>
          <a:xfrm>
            <a:off x="5696712" y="4023360"/>
            <a:ext cx="566928" cy="411480"/>
          </a:xfrm>
          <a:prstGeom prst="rect">
            <a:avLst/>
          </a:prstGeom>
          <a:noFill/>
          <a:ln/>
        </p:spPr>
        <p:txBody>
          <a:bodyPr wrap="square" lIns="0" tIns="0" rIns="0" bIns="0"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P3</a:t>
            </a:r>
            <a:endParaRPr lang="en-US" sz="1300" dirty="0"/>
          </a:p>
        </p:txBody>
      </p:sp>
      <p:sp>
        <p:nvSpPr>
          <p:cNvPr id="26" name="Shape 24"/>
          <p:cNvSpPr/>
          <p:nvPr/>
        </p:nvSpPr>
        <p:spPr>
          <a:xfrm>
            <a:off x="6318504" y="4023360"/>
            <a:ext cx="566928" cy="411480"/>
          </a:xfrm>
          <a:prstGeom prst="roundRect">
            <a:avLst>
              <a:gd name="adj" fmla="val 22222"/>
            </a:avLst>
          </a:prstGeom>
          <a:solidFill>
            <a:srgbClr val="F5F3FF"/>
          </a:solidFill>
          <a:ln w="12700">
            <a:solidFill>
              <a:srgbClr val="4F46E5"/>
            </a:solidFill>
            <a:prstDash val="solid"/>
          </a:ln>
        </p:spPr>
      </p:sp>
      <p:sp>
        <p:nvSpPr>
          <p:cNvPr id="27" name="Text 25"/>
          <p:cNvSpPr txBox="1"/>
          <p:nvPr/>
        </p:nvSpPr>
        <p:spPr>
          <a:xfrm>
            <a:off x="6318504" y="4023360"/>
            <a:ext cx="566928" cy="411480"/>
          </a:xfrm>
          <a:prstGeom prst="rect">
            <a:avLst/>
          </a:prstGeom>
          <a:noFill/>
          <a:ln/>
        </p:spPr>
        <p:txBody>
          <a:bodyPr wrap="square" lIns="0" tIns="0" rIns="0" bIns="0"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Z5</a:t>
            </a:r>
            <a:endParaRPr lang="en-US" sz="1300" dirty="0"/>
          </a:p>
        </p:txBody>
      </p:sp>
      <p:sp>
        <p:nvSpPr>
          <p:cNvPr id="28" name="Shape 26"/>
          <p:cNvSpPr/>
          <p:nvPr/>
        </p:nvSpPr>
        <p:spPr>
          <a:xfrm>
            <a:off x="6940296" y="4023360"/>
            <a:ext cx="566928" cy="411480"/>
          </a:xfrm>
          <a:prstGeom prst="roundRect">
            <a:avLst>
              <a:gd name="adj" fmla="val 22222"/>
            </a:avLst>
          </a:prstGeom>
          <a:solidFill>
            <a:srgbClr val="F5F3FF"/>
          </a:solidFill>
          <a:ln w="12700">
            <a:solidFill>
              <a:srgbClr val="4F46E5"/>
            </a:solidFill>
            <a:prstDash val="solid"/>
          </a:ln>
        </p:spPr>
      </p:sp>
      <p:sp>
        <p:nvSpPr>
          <p:cNvPr id="29" name="Text 27"/>
          <p:cNvSpPr txBox="1"/>
          <p:nvPr/>
        </p:nvSpPr>
        <p:spPr>
          <a:xfrm>
            <a:off x="6940296" y="4023360"/>
            <a:ext cx="566928" cy="411480"/>
          </a:xfrm>
          <a:prstGeom prst="rect">
            <a:avLst/>
          </a:prstGeom>
          <a:noFill/>
          <a:ln/>
        </p:spPr>
        <p:txBody>
          <a:bodyPr wrap="square" lIns="0" tIns="0" rIns="0" bIns="0"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X2</a:t>
            </a:r>
            <a:endParaRPr lang="en-US" sz="1300" dirty="0"/>
          </a:p>
        </p:txBody>
      </p:sp>
      <p:sp>
        <p:nvSpPr>
          <p:cNvPr id="30" name="Shape 28"/>
          <p:cNvSpPr/>
          <p:nvPr/>
        </p:nvSpPr>
        <p:spPr>
          <a:xfrm>
            <a:off x="7562088" y="4023360"/>
            <a:ext cx="566928" cy="411480"/>
          </a:xfrm>
          <a:prstGeom prst="roundRect">
            <a:avLst>
              <a:gd name="adj" fmla="val 22222"/>
            </a:avLst>
          </a:prstGeom>
          <a:solidFill>
            <a:srgbClr val="F5F3FF"/>
          </a:solidFill>
          <a:ln w="12700">
            <a:solidFill>
              <a:srgbClr val="4F46E5"/>
            </a:solidFill>
            <a:prstDash val="solid"/>
          </a:ln>
        </p:spPr>
      </p:sp>
      <p:sp>
        <p:nvSpPr>
          <p:cNvPr id="31" name="Text 29"/>
          <p:cNvSpPr txBox="1"/>
          <p:nvPr/>
        </p:nvSpPr>
        <p:spPr>
          <a:xfrm>
            <a:off x="7562088" y="4023360"/>
            <a:ext cx="566928" cy="411480"/>
          </a:xfrm>
          <a:prstGeom prst="rect">
            <a:avLst/>
          </a:prstGeom>
          <a:noFill/>
          <a:ln/>
        </p:spPr>
        <p:txBody>
          <a:bodyPr wrap="square" lIns="0" tIns="0" rIns="0" bIns="0"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Q2</a:t>
            </a:r>
            <a:endParaRPr lang="en-US" sz="1300" dirty="0"/>
          </a:p>
        </p:txBody>
      </p:sp>
      <p:sp>
        <p:nvSpPr>
          <p:cNvPr id="32" name="Text 30"/>
          <p:cNvSpPr txBox="1"/>
          <p:nvPr/>
        </p:nvSpPr>
        <p:spPr>
          <a:xfrm>
            <a:off x="5074920" y="4453128"/>
            <a:ext cx="566928" cy="201168"/>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i=0</a:t>
            </a:r>
            <a:endParaRPr lang="en-US" sz="1000" dirty="0"/>
          </a:p>
        </p:txBody>
      </p:sp>
      <p:sp>
        <p:nvSpPr>
          <p:cNvPr id="33" name="Text 31"/>
          <p:cNvSpPr txBox="1"/>
          <p:nvPr/>
        </p:nvSpPr>
        <p:spPr>
          <a:xfrm>
            <a:off x="5696712" y="4453128"/>
            <a:ext cx="566928" cy="201168"/>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i=1</a:t>
            </a:r>
            <a:endParaRPr lang="en-US" sz="1000" dirty="0"/>
          </a:p>
        </p:txBody>
      </p:sp>
      <p:sp>
        <p:nvSpPr>
          <p:cNvPr id="34" name="Text 32"/>
          <p:cNvSpPr txBox="1"/>
          <p:nvPr/>
        </p:nvSpPr>
        <p:spPr>
          <a:xfrm>
            <a:off x="6318504" y="4453128"/>
            <a:ext cx="566928" cy="201168"/>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i=2</a:t>
            </a:r>
            <a:endParaRPr lang="en-US" sz="1000" dirty="0"/>
          </a:p>
        </p:txBody>
      </p:sp>
      <p:sp>
        <p:nvSpPr>
          <p:cNvPr id="35" name="Text 33"/>
          <p:cNvSpPr txBox="1"/>
          <p:nvPr/>
        </p:nvSpPr>
        <p:spPr>
          <a:xfrm>
            <a:off x="6940296" y="4453128"/>
            <a:ext cx="566928" cy="201168"/>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i=3</a:t>
            </a:r>
            <a:endParaRPr lang="en-US" sz="1000" dirty="0"/>
          </a:p>
        </p:txBody>
      </p:sp>
      <p:sp>
        <p:nvSpPr>
          <p:cNvPr id="36" name="Text 34"/>
          <p:cNvSpPr txBox="1"/>
          <p:nvPr/>
        </p:nvSpPr>
        <p:spPr>
          <a:xfrm>
            <a:off x="7562088" y="4453128"/>
            <a:ext cx="566928" cy="201168"/>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E1B4B"/>
                </a:solidFill>
                <a:latin typeface="Cambria" pitchFamily="34" charset="0"/>
                <a:ea typeface="Cambria" pitchFamily="34" charset="-122"/>
                <a:cs typeface="Cambria" pitchFamily="34" charset="-120"/>
              </a:rPr>
              <a:t>Insert: Shift-Up</a:t>
            </a:r>
            <a:endParaRPr lang="en-US" sz="3200" dirty="0"/>
          </a:p>
        </p:txBody>
      </p:sp>
      <p:sp>
        <p:nvSpPr>
          <p:cNvPr id="3" name="Shape 1"/>
          <p:cNvSpPr/>
          <p:nvPr/>
        </p:nvSpPr>
        <p:spPr>
          <a:xfrm>
            <a:off x="457200" y="1097280"/>
            <a:ext cx="457200" cy="457200"/>
          </a:xfrm>
          <a:prstGeom prst="ellipse">
            <a:avLst/>
          </a:prstGeom>
          <a:solidFill>
            <a:srgbClr val="4F46E5"/>
          </a:solidFill>
          <a:ln w="19050">
            <a:solidFill>
              <a:srgbClr val="FFFFFF"/>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097280" y="106070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Add at the end</a:t>
            </a:r>
            <a:endParaRPr lang="en-US" sz="1500" dirty="0"/>
          </a:p>
        </p:txBody>
      </p:sp>
      <p:sp>
        <p:nvSpPr>
          <p:cNvPr id="6" name="Text 4"/>
          <p:cNvSpPr txBox="1"/>
          <p:nvPr/>
        </p:nvSpPr>
        <p:spPr>
          <a:xfrm>
            <a:off x="1097280" y="133502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Keeps the tree complete</a:t>
            </a:r>
            <a:endParaRPr lang="en-US" sz="1200" dirty="0"/>
          </a:p>
        </p:txBody>
      </p:sp>
      <p:sp>
        <p:nvSpPr>
          <p:cNvPr id="7" name="Shape 5"/>
          <p:cNvSpPr/>
          <p:nvPr/>
        </p:nvSpPr>
        <p:spPr>
          <a:xfrm>
            <a:off x="457200" y="1737360"/>
            <a:ext cx="457200" cy="457200"/>
          </a:xfrm>
          <a:prstGeom prst="ellipse">
            <a:avLst/>
          </a:prstGeom>
          <a:solidFill>
            <a:srgbClr val="4F46E5"/>
          </a:solidFill>
          <a:ln w="19050">
            <a:solidFill>
              <a:srgbClr val="FFFFFF"/>
            </a:solidFill>
            <a:prstDash val="solid"/>
          </a:ln>
        </p:spPr>
      </p:sp>
      <p:sp>
        <p:nvSpPr>
          <p:cNvPr id="8" name="Text 6"/>
          <p:cNvSpPr txBox="1"/>
          <p:nvPr/>
        </p:nvSpPr>
        <p:spPr>
          <a:xfrm>
            <a:off x="457200" y="17373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097280" y="170078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Compare with parent</a:t>
            </a:r>
            <a:endParaRPr lang="en-US" sz="1500" dirty="0"/>
          </a:p>
        </p:txBody>
      </p:sp>
      <p:sp>
        <p:nvSpPr>
          <p:cNvPr id="10" name="Text 8"/>
          <p:cNvSpPr txBox="1"/>
          <p:nvPr/>
        </p:nvSpPr>
        <p:spPr>
          <a:xfrm>
            <a:off x="1097280" y="197510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Is the new one more urgent?</a:t>
            </a:r>
            <a:endParaRPr lang="en-US" sz="1200" dirty="0"/>
          </a:p>
        </p:txBody>
      </p:sp>
      <p:sp>
        <p:nvSpPr>
          <p:cNvPr id="11" name="Shape 9"/>
          <p:cNvSpPr/>
          <p:nvPr/>
        </p:nvSpPr>
        <p:spPr>
          <a:xfrm>
            <a:off x="457200" y="2377440"/>
            <a:ext cx="457200" cy="457200"/>
          </a:xfrm>
          <a:prstGeom prst="ellipse">
            <a:avLst/>
          </a:prstGeom>
          <a:solidFill>
            <a:srgbClr val="4F46E5"/>
          </a:solidFill>
          <a:ln w="19050">
            <a:solidFill>
              <a:srgbClr val="FFFFFF"/>
            </a:solidFill>
            <a:prstDash val="solid"/>
          </a:ln>
        </p:spPr>
      </p:sp>
      <p:sp>
        <p:nvSpPr>
          <p:cNvPr id="12" name="Text 10"/>
          <p:cNvSpPr txBox="1"/>
          <p:nvPr/>
        </p:nvSpPr>
        <p:spPr>
          <a:xfrm>
            <a:off x="457200" y="2377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97280" y="234086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Swap if more urgent</a:t>
            </a:r>
            <a:endParaRPr lang="en-US" sz="1500" dirty="0"/>
          </a:p>
        </p:txBody>
      </p:sp>
      <p:sp>
        <p:nvSpPr>
          <p:cNvPr id="14" name="Text 12"/>
          <p:cNvSpPr txBox="1"/>
          <p:nvPr/>
        </p:nvSpPr>
        <p:spPr>
          <a:xfrm>
            <a:off x="1097280" y="261518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Moves one level up</a:t>
            </a:r>
            <a:endParaRPr lang="en-US" sz="1200" dirty="0"/>
          </a:p>
        </p:txBody>
      </p:sp>
      <p:sp>
        <p:nvSpPr>
          <p:cNvPr id="15" name="Shape 13"/>
          <p:cNvSpPr/>
          <p:nvPr/>
        </p:nvSpPr>
        <p:spPr>
          <a:xfrm>
            <a:off x="457200" y="3017520"/>
            <a:ext cx="457200" cy="457200"/>
          </a:xfrm>
          <a:prstGeom prst="ellipse">
            <a:avLst/>
          </a:prstGeom>
          <a:solidFill>
            <a:srgbClr val="4F46E5"/>
          </a:solidFill>
          <a:ln w="19050">
            <a:solidFill>
              <a:srgbClr val="FFFFFF"/>
            </a:solidFill>
            <a:prstDash val="solid"/>
          </a:ln>
        </p:spPr>
      </p:sp>
      <p:sp>
        <p:nvSpPr>
          <p:cNvPr id="16" name="Text 14"/>
          <p:cNvSpPr txBox="1"/>
          <p:nvPr/>
        </p:nvSpPr>
        <p:spPr>
          <a:xfrm>
            <a:off x="457200" y="30175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097280" y="298094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Repeat until ordered</a:t>
            </a:r>
            <a:endParaRPr lang="en-US" sz="1500" dirty="0"/>
          </a:p>
        </p:txBody>
      </p:sp>
      <p:sp>
        <p:nvSpPr>
          <p:cNvPr id="18" name="Text 16"/>
          <p:cNvSpPr txBox="1"/>
          <p:nvPr/>
        </p:nvSpPr>
        <p:spPr>
          <a:xfrm>
            <a:off x="1097280" y="325526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Stop at root or when parent wins</a:t>
            </a:r>
            <a:endParaRPr lang="en-US" sz="1200" dirty="0"/>
          </a:p>
        </p:txBody>
      </p:sp>
      <p:sp>
        <p:nvSpPr>
          <p:cNvPr id="19" name="Shape 17"/>
          <p:cNvSpPr/>
          <p:nvPr/>
        </p:nvSpPr>
        <p:spPr>
          <a:xfrm>
            <a:off x="457200" y="3794760"/>
            <a:ext cx="4206240" cy="868680"/>
          </a:xfrm>
          <a:prstGeom prst="roundRect">
            <a:avLst>
              <a:gd name="adj" fmla="val 10526"/>
            </a:avLst>
          </a:prstGeom>
          <a:solidFill>
            <a:srgbClr val="1E1B4B"/>
          </a:solidFill>
          <a:ln w="12700">
            <a:solidFill>
              <a:srgbClr val="1E1B4B"/>
            </a:solidFill>
            <a:prstDash val="solid"/>
          </a:ln>
        </p:spPr>
      </p:sp>
      <p:sp>
        <p:nvSpPr>
          <p:cNvPr id="20" name="Text 18"/>
          <p:cNvSpPr txBox="1"/>
          <p:nvPr/>
        </p:nvSpPr>
        <p:spPr>
          <a:xfrm>
            <a:off x="594360" y="3794760"/>
            <a:ext cx="3931920" cy="868680"/>
          </a:xfrm>
          <a:prstGeom prst="rect">
            <a:avLst/>
          </a:prstGeom>
          <a:noFill/>
          <a:ln/>
        </p:spPr>
        <p:txBody>
          <a:bodyPr wrap="square" lIns="0" tIns="0" rIns="0" bIns="0" rtlCol="0" anchor="ctr"/>
          <a:lstStyle/>
          <a:p>
            <a:pPr marL="0" indent="0">
              <a:buNone/>
            </a:pPr>
            <a:r>
              <a:rPr lang="en-US" sz="1100" dirty="0">
                <a:solidFill>
                  <a:srgbClr val="DDD9FF"/>
                </a:solidFill>
                <a:latin typeface="Courier New" pitchFamily="34" charset="0"/>
                <a:ea typeface="Courier New" pitchFamily="34" charset="-122"/>
                <a:cs typeface="Courier New" pitchFamily="34" charset="-120"/>
              </a:rPr>
              <a:t>while i &gt; 0 and before(h[i], h[parent]):</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swap(i, parent)</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i = parent</a:t>
            </a:r>
            <a:endParaRPr lang="en-US" sz="1100" dirty="0"/>
          </a:p>
        </p:txBody>
      </p:sp>
      <p:sp>
        <p:nvSpPr>
          <p:cNvPr id="21" name="Shape 19"/>
          <p:cNvSpPr/>
          <p:nvPr/>
        </p:nvSpPr>
        <p:spPr>
          <a:xfrm>
            <a:off x="4937760" y="1097280"/>
            <a:ext cx="3749040" cy="3566160"/>
          </a:xfrm>
          <a:prstGeom prst="roundRect">
            <a:avLst>
              <a:gd name="adj" fmla="val 2564"/>
            </a:avLst>
          </a:prstGeom>
          <a:solidFill>
            <a:srgbClr val="FFFFFF"/>
          </a:solidFill>
          <a:ln w="12700">
            <a:solidFill>
              <a:srgbClr val="DDD6FE"/>
            </a:solidFill>
            <a:prstDash val="solid"/>
          </a:ln>
          <a:effectLst>
            <a:outerShdw blurRad="76200" dist="25400" dir="5400000" algn="bl" rotWithShape="0">
              <a:srgbClr val="000000">
                <a:alpha val="15000"/>
              </a:srgbClr>
            </a:outerShdw>
          </a:effectLst>
        </p:spPr>
      </p:sp>
      <p:sp>
        <p:nvSpPr>
          <p:cNvPr id="22" name="Text 20"/>
          <p:cNvSpPr txBox="1"/>
          <p:nvPr/>
        </p:nvSpPr>
        <p:spPr>
          <a:xfrm>
            <a:off x="5120640" y="1234440"/>
            <a:ext cx="3474720" cy="274320"/>
          </a:xfrm>
          <a:prstGeom prst="rect">
            <a:avLst/>
          </a:prstGeom>
          <a:noFill/>
          <a:ln/>
        </p:spPr>
        <p:txBody>
          <a:bodyPr wrap="square" lIns="0" tIns="0" rIns="0" bIns="0" rtlCol="0" anchor="ctr"/>
          <a:lstStyle/>
          <a:p>
            <a:pPr marL="0" indent="0">
              <a:buNone/>
            </a:pPr>
            <a:r>
              <a:rPr lang="en-US" sz="1200" b="1" kern="0" spc="200" dirty="0">
                <a:solidFill>
                  <a:srgbClr val="4F46E5"/>
                </a:solidFill>
                <a:latin typeface="Calibri" pitchFamily="34" charset="0"/>
                <a:ea typeface="Calibri" pitchFamily="34" charset="-122"/>
                <a:cs typeface="Calibri" pitchFamily="34" charset="-120"/>
              </a:rPr>
              <a:t>EXAMPLE: INSERT P (PRIORITY 3)</a:t>
            </a:r>
            <a:endParaRPr lang="en-US" sz="1200" dirty="0"/>
          </a:p>
        </p:txBody>
      </p:sp>
      <p:sp>
        <p:nvSpPr>
          <p:cNvPr id="23" name="Text 21"/>
          <p:cNvSpPr txBox="1"/>
          <p:nvPr/>
        </p:nvSpPr>
        <p:spPr>
          <a:xfrm>
            <a:off x="5120640" y="1600200"/>
            <a:ext cx="1828800" cy="2286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Before</a:t>
            </a:r>
            <a:endParaRPr lang="en-US" sz="1200" dirty="0"/>
          </a:p>
        </p:txBody>
      </p:sp>
      <p:sp>
        <p:nvSpPr>
          <p:cNvPr id="24" name="Shape 22"/>
          <p:cNvSpPr/>
          <p:nvPr/>
        </p:nvSpPr>
        <p:spPr>
          <a:xfrm>
            <a:off x="5120640" y="1828800"/>
            <a:ext cx="566928" cy="411480"/>
          </a:xfrm>
          <a:prstGeom prst="roundRect">
            <a:avLst>
              <a:gd name="adj" fmla="val 22222"/>
            </a:avLst>
          </a:prstGeom>
          <a:solidFill>
            <a:srgbClr val="F43F5E"/>
          </a:solidFill>
          <a:ln w="12700">
            <a:solidFill>
              <a:srgbClr val="4F46E5"/>
            </a:solidFill>
            <a:prstDash val="solid"/>
          </a:ln>
        </p:spPr>
      </p:sp>
      <p:sp>
        <p:nvSpPr>
          <p:cNvPr id="25" name="Text 23"/>
          <p:cNvSpPr txBox="1"/>
          <p:nvPr/>
        </p:nvSpPr>
        <p:spPr>
          <a:xfrm>
            <a:off x="5120640"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Y5</a:t>
            </a:r>
            <a:endParaRPr lang="en-US" sz="1300" dirty="0"/>
          </a:p>
        </p:txBody>
      </p:sp>
      <p:sp>
        <p:nvSpPr>
          <p:cNvPr id="26" name="Shape 24"/>
          <p:cNvSpPr/>
          <p:nvPr/>
        </p:nvSpPr>
        <p:spPr>
          <a:xfrm>
            <a:off x="5742432" y="1828800"/>
            <a:ext cx="566928" cy="411480"/>
          </a:xfrm>
          <a:prstGeom prst="roundRect">
            <a:avLst>
              <a:gd name="adj" fmla="val 22222"/>
            </a:avLst>
          </a:prstGeom>
          <a:solidFill>
            <a:srgbClr val="E08A00"/>
          </a:solidFill>
          <a:ln w="12700">
            <a:solidFill>
              <a:srgbClr val="4F46E5"/>
            </a:solidFill>
            <a:prstDash val="solid"/>
          </a:ln>
        </p:spPr>
      </p:sp>
      <p:sp>
        <p:nvSpPr>
          <p:cNvPr id="27" name="Text 25"/>
          <p:cNvSpPr txBox="1"/>
          <p:nvPr/>
        </p:nvSpPr>
        <p:spPr>
          <a:xfrm>
            <a:off x="5742432"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X2</a:t>
            </a:r>
            <a:endParaRPr lang="en-US" sz="1300" dirty="0"/>
          </a:p>
        </p:txBody>
      </p:sp>
      <p:sp>
        <p:nvSpPr>
          <p:cNvPr id="28" name="Shape 26"/>
          <p:cNvSpPr/>
          <p:nvPr/>
        </p:nvSpPr>
        <p:spPr>
          <a:xfrm>
            <a:off x="6364224" y="1828800"/>
            <a:ext cx="566928" cy="411480"/>
          </a:xfrm>
          <a:prstGeom prst="roundRect">
            <a:avLst>
              <a:gd name="adj" fmla="val 22222"/>
            </a:avLst>
          </a:prstGeom>
          <a:solidFill>
            <a:srgbClr val="F43F5E"/>
          </a:solidFill>
          <a:ln w="12700">
            <a:solidFill>
              <a:srgbClr val="4F46E5"/>
            </a:solidFill>
            <a:prstDash val="solid"/>
          </a:ln>
        </p:spPr>
      </p:sp>
      <p:sp>
        <p:nvSpPr>
          <p:cNvPr id="29" name="Text 27"/>
          <p:cNvSpPr txBox="1"/>
          <p:nvPr/>
        </p:nvSpPr>
        <p:spPr>
          <a:xfrm>
            <a:off x="6364224"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Z5</a:t>
            </a:r>
            <a:endParaRPr lang="en-US" sz="1300" dirty="0"/>
          </a:p>
        </p:txBody>
      </p:sp>
      <p:sp>
        <p:nvSpPr>
          <p:cNvPr id="30" name="Text 28"/>
          <p:cNvSpPr txBox="1"/>
          <p:nvPr/>
        </p:nvSpPr>
        <p:spPr>
          <a:xfrm>
            <a:off x="5120640" y="2377440"/>
            <a:ext cx="3474720" cy="1097280"/>
          </a:xfrm>
          <a:prstGeom prst="rect">
            <a:avLst/>
          </a:prstGeom>
          <a:noFill/>
          <a:ln/>
        </p:spPr>
        <p:txBody>
          <a:bodyPr wrap="square" lIns="0" tIns="0" rIns="0" bIns="0" rtlCol="0" anchor="ctr"/>
          <a:lstStyle/>
          <a:p>
            <a:pPr marL="0" indent="0">
              <a:buNone/>
            </a:pPr>
            <a:r>
              <a:rPr lang="en-US" sz="1200" dirty="0">
                <a:solidFill>
                  <a:srgbClr val="1E1B4B"/>
                </a:solidFill>
                <a:latin typeface="Calibri" pitchFamily="34" charset="0"/>
                <a:ea typeface="Calibri" pitchFamily="34" charset="-122"/>
                <a:cs typeface="Calibri" pitchFamily="34" charset="-120"/>
              </a:rPr>
              <a:t>1. Append P3 at index 3</a:t>
            </a:r>
            <a:endParaRPr lang="en-US" sz="1200" dirty="0"/>
          </a:p>
          <a:p>
            <a:pPr marL="0" indent="0">
              <a:buNone/>
            </a:pPr>
            <a:r>
              <a:rPr lang="en-US" sz="1200" dirty="0">
                <a:solidFill>
                  <a:srgbClr val="1E1B4B"/>
                </a:solidFill>
                <a:latin typeface="Calibri" pitchFamily="34" charset="0"/>
                <a:ea typeface="Calibri" pitchFamily="34" charset="-122"/>
                <a:cs typeface="Calibri" pitchFamily="34" charset="-120"/>
              </a:rPr>
              <a:t>2. Parent is index 1 = X2</a:t>
            </a:r>
            <a:endParaRPr lang="en-US" sz="1200" dirty="0"/>
          </a:p>
          <a:p>
            <a:pPr marL="0" indent="0">
              <a:buNone/>
            </a:pPr>
            <a:r>
              <a:rPr lang="en-US" sz="1200" dirty="0">
                <a:solidFill>
                  <a:srgbClr val="1E1B4B"/>
                </a:solidFill>
                <a:latin typeface="Calibri" pitchFamily="34" charset="0"/>
                <a:ea typeface="Calibri" pitchFamily="34" charset="-122"/>
                <a:cs typeface="Calibri" pitchFamily="34" charset="-120"/>
              </a:rPr>
              <a:t>3. P3 is more urgent than X2: swap</a:t>
            </a:r>
            <a:endParaRPr lang="en-US" sz="1200" dirty="0"/>
          </a:p>
          <a:p>
            <a:pPr marL="0" indent="0">
              <a:buNone/>
            </a:pPr>
            <a:r>
              <a:rPr lang="en-US" sz="1200" dirty="0">
                <a:solidFill>
                  <a:srgbClr val="1E1B4B"/>
                </a:solidFill>
                <a:latin typeface="Calibri" pitchFamily="34" charset="0"/>
                <a:ea typeface="Calibri" pitchFamily="34" charset="-122"/>
                <a:cs typeface="Calibri" pitchFamily="34" charset="-120"/>
              </a:rPr>
              <a:t>4. New parent is Y5: P3 less urgent, stop</a:t>
            </a:r>
            <a:endParaRPr lang="en-US" sz="1200" dirty="0"/>
          </a:p>
        </p:txBody>
      </p:sp>
      <p:sp>
        <p:nvSpPr>
          <p:cNvPr id="31" name="Text 29"/>
          <p:cNvSpPr txBox="1"/>
          <p:nvPr/>
        </p:nvSpPr>
        <p:spPr>
          <a:xfrm>
            <a:off x="5120640" y="3520440"/>
            <a:ext cx="1828800" cy="2286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After</a:t>
            </a:r>
            <a:endParaRPr lang="en-US" sz="1200" dirty="0"/>
          </a:p>
        </p:txBody>
      </p:sp>
      <p:sp>
        <p:nvSpPr>
          <p:cNvPr id="32" name="Shape 30"/>
          <p:cNvSpPr/>
          <p:nvPr/>
        </p:nvSpPr>
        <p:spPr>
          <a:xfrm>
            <a:off x="5120640" y="3749040"/>
            <a:ext cx="566928" cy="411480"/>
          </a:xfrm>
          <a:prstGeom prst="roundRect">
            <a:avLst>
              <a:gd name="adj" fmla="val 22222"/>
            </a:avLst>
          </a:prstGeom>
          <a:solidFill>
            <a:srgbClr val="F43F5E"/>
          </a:solidFill>
          <a:ln w="12700">
            <a:solidFill>
              <a:srgbClr val="4F46E5"/>
            </a:solidFill>
            <a:prstDash val="solid"/>
          </a:ln>
        </p:spPr>
      </p:sp>
      <p:sp>
        <p:nvSpPr>
          <p:cNvPr id="33" name="Text 31"/>
          <p:cNvSpPr txBox="1"/>
          <p:nvPr/>
        </p:nvSpPr>
        <p:spPr>
          <a:xfrm>
            <a:off x="5120640" y="374904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Y5</a:t>
            </a:r>
            <a:endParaRPr lang="en-US" sz="1300" dirty="0"/>
          </a:p>
        </p:txBody>
      </p:sp>
      <p:sp>
        <p:nvSpPr>
          <p:cNvPr id="34" name="Shape 32"/>
          <p:cNvSpPr/>
          <p:nvPr/>
        </p:nvSpPr>
        <p:spPr>
          <a:xfrm>
            <a:off x="5742432" y="3749040"/>
            <a:ext cx="566928" cy="411480"/>
          </a:xfrm>
          <a:prstGeom prst="roundRect">
            <a:avLst>
              <a:gd name="adj" fmla="val 22222"/>
            </a:avLst>
          </a:prstGeom>
          <a:solidFill>
            <a:srgbClr val="4F46E5"/>
          </a:solidFill>
          <a:ln w="12700">
            <a:solidFill>
              <a:srgbClr val="4F46E5"/>
            </a:solidFill>
            <a:prstDash val="solid"/>
          </a:ln>
        </p:spPr>
      </p:sp>
      <p:sp>
        <p:nvSpPr>
          <p:cNvPr id="35" name="Text 33"/>
          <p:cNvSpPr txBox="1"/>
          <p:nvPr/>
        </p:nvSpPr>
        <p:spPr>
          <a:xfrm>
            <a:off x="5742432" y="374904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36" name="Shape 34"/>
          <p:cNvSpPr/>
          <p:nvPr/>
        </p:nvSpPr>
        <p:spPr>
          <a:xfrm>
            <a:off x="6364224" y="3749040"/>
            <a:ext cx="566928" cy="411480"/>
          </a:xfrm>
          <a:prstGeom prst="roundRect">
            <a:avLst>
              <a:gd name="adj" fmla="val 22222"/>
            </a:avLst>
          </a:prstGeom>
          <a:solidFill>
            <a:srgbClr val="F43F5E"/>
          </a:solidFill>
          <a:ln w="12700">
            <a:solidFill>
              <a:srgbClr val="4F46E5"/>
            </a:solidFill>
            <a:prstDash val="solid"/>
          </a:ln>
        </p:spPr>
      </p:sp>
      <p:sp>
        <p:nvSpPr>
          <p:cNvPr id="37" name="Text 35"/>
          <p:cNvSpPr txBox="1"/>
          <p:nvPr/>
        </p:nvSpPr>
        <p:spPr>
          <a:xfrm>
            <a:off x="6364224" y="374904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Z5</a:t>
            </a:r>
            <a:endParaRPr lang="en-US" sz="1300" dirty="0"/>
          </a:p>
        </p:txBody>
      </p:sp>
      <p:sp>
        <p:nvSpPr>
          <p:cNvPr id="38" name="Shape 36"/>
          <p:cNvSpPr/>
          <p:nvPr/>
        </p:nvSpPr>
        <p:spPr>
          <a:xfrm>
            <a:off x="6986016" y="3749040"/>
            <a:ext cx="566928" cy="411480"/>
          </a:xfrm>
          <a:prstGeom prst="roundRect">
            <a:avLst>
              <a:gd name="adj" fmla="val 22222"/>
            </a:avLst>
          </a:prstGeom>
          <a:solidFill>
            <a:srgbClr val="E08A00"/>
          </a:solidFill>
          <a:ln w="12700">
            <a:solidFill>
              <a:srgbClr val="4F46E5"/>
            </a:solidFill>
            <a:prstDash val="solid"/>
          </a:ln>
        </p:spPr>
      </p:sp>
      <p:sp>
        <p:nvSpPr>
          <p:cNvPr id="39" name="Text 37"/>
          <p:cNvSpPr txBox="1"/>
          <p:nvPr/>
        </p:nvSpPr>
        <p:spPr>
          <a:xfrm>
            <a:off x="6986016" y="374904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X2</a:t>
            </a:r>
            <a:endParaRPr lang="en-US" sz="1300" dirty="0"/>
          </a:p>
        </p:txBody>
      </p:sp>
      <p:sp>
        <p:nvSpPr>
          <p:cNvPr id="40" name="Text 38"/>
          <p:cNvSpPr txBox="1"/>
          <p:nvPr/>
        </p:nvSpPr>
        <p:spPr>
          <a:xfrm>
            <a:off x="5120640" y="4251960"/>
            <a:ext cx="3474720" cy="274320"/>
          </a:xfrm>
          <a:prstGeom prst="rect">
            <a:avLst/>
          </a:prstGeom>
          <a:noFill/>
          <a:ln/>
        </p:spPr>
        <p:txBody>
          <a:bodyPr wrap="square" lIns="0" tIns="0" rIns="0" bIns="0" rtlCol="0" anchor="ctr"/>
          <a:lstStyle/>
          <a:p>
            <a:pPr marL="0" indent="0">
              <a:buNone/>
            </a:pPr>
            <a:r>
              <a:rPr lang="en-US" sz="1100" i="1" dirty="0">
                <a:solidFill>
                  <a:srgbClr val="4F46E5"/>
                </a:solidFill>
                <a:latin typeface="Calibri" pitchFamily="34" charset="0"/>
                <a:ea typeface="Calibri" pitchFamily="34" charset="-122"/>
                <a:cs typeface="Calibri" pitchFamily="34" charset="-120"/>
              </a:rPr>
              <a:t>Cost: at most the height of the tree, O(log 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E1B4B"/>
                </a:solidFill>
                <a:latin typeface="Cambria" pitchFamily="34" charset="0"/>
                <a:ea typeface="Cambria" pitchFamily="34" charset="-122"/>
                <a:cs typeface="Cambria" pitchFamily="34" charset="-120"/>
              </a:rPr>
              <a:t>Next Patient: Shift-Down</a:t>
            </a:r>
            <a:endParaRPr lang="en-US" sz="3200" dirty="0"/>
          </a:p>
        </p:txBody>
      </p:sp>
      <p:sp>
        <p:nvSpPr>
          <p:cNvPr id="3" name="Shape 1"/>
          <p:cNvSpPr/>
          <p:nvPr/>
        </p:nvSpPr>
        <p:spPr>
          <a:xfrm>
            <a:off x="457200" y="1097280"/>
            <a:ext cx="457200" cy="457200"/>
          </a:xfrm>
          <a:prstGeom prst="ellipse">
            <a:avLst/>
          </a:prstGeom>
          <a:solidFill>
            <a:srgbClr val="F43F5E"/>
          </a:solidFill>
          <a:ln w="19050">
            <a:solidFill>
              <a:srgbClr val="FFFFFF"/>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097280" y="106070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Remove the root</a:t>
            </a:r>
            <a:endParaRPr lang="en-US" sz="1500" dirty="0"/>
          </a:p>
        </p:txBody>
      </p:sp>
      <p:sp>
        <p:nvSpPr>
          <p:cNvPr id="6" name="Text 4"/>
          <p:cNvSpPr txBox="1"/>
          <p:nvPr/>
        </p:nvSpPr>
        <p:spPr>
          <a:xfrm>
            <a:off x="1097280" y="133502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This is the patient to treat</a:t>
            </a:r>
            <a:endParaRPr lang="en-US" sz="1200" dirty="0"/>
          </a:p>
        </p:txBody>
      </p:sp>
      <p:sp>
        <p:nvSpPr>
          <p:cNvPr id="7" name="Shape 5"/>
          <p:cNvSpPr/>
          <p:nvPr/>
        </p:nvSpPr>
        <p:spPr>
          <a:xfrm>
            <a:off x="457200" y="1737360"/>
            <a:ext cx="457200" cy="457200"/>
          </a:xfrm>
          <a:prstGeom prst="ellipse">
            <a:avLst/>
          </a:prstGeom>
          <a:solidFill>
            <a:srgbClr val="F43F5E"/>
          </a:solidFill>
          <a:ln w="19050">
            <a:solidFill>
              <a:srgbClr val="FFFFFF"/>
            </a:solidFill>
            <a:prstDash val="solid"/>
          </a:ln>
        </p:spPr>
      </p:sp>
      <p:sp>
        <p:nvSpPr>
          <p:cNvPr id="8" name="Text 6"/>
          <p:cNvSpPr txBox="1"/>
          <p:nvPr/>
        </p:nvSpPr>
        <p:spPr>
          <a:xfrm>
            <a:off x="457200" y="17373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097280" y="170078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Move last element to root</a:t>
            </a:r>
            <a:endParaRPr lang="en-US" sz="1500" dirty="0"/>
          </a:p>
        </p:txBody>
      </p:sp>
      <p:sp>
        <p:nvSpPr>
          <p:cNvPr id="10" name="Text 8"/>
          <p:cNvSpPr txBox="1"/>
          <p:nvPr/>
        </p:nvSpPr>
        <p:spPr>
          <a:xfrm>
            <a:off x="1097280" y="197510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Keeps the tree complete</a:t>
            </a:r>
            <a:endParaRPr lang="en-US" sz="1200" dirty="0"/>
          </a:p>
        </p:txBody>
      </p:sp>
      <p:sp>
        <p:nvSpPr>
          <p:cNvPr id="11" name="Shape 9"/>
          <p:cNvSpPr/>
          <p:nvPr/>
        </p:nvSpPr>
        <p:spPr>
          <a:xfrm>
            <a:off x="457200" y="2377440"/>
            <a:ext cx="457200" cy="457200"/>
          </a:xfrm>
          <a:prstGeom prst="ellipse">
            <a:avLst/>
          </a:prstGeom>
          <a:solidFill>
            <a:srgbClr val="F43F5E"/>
          </a:solidFill>
          <a:ln w="19050">
            <a:solidFill>
              <a:srgbClr val="FFFFFF"/>
            </a:solidFill>
            <a:prstDash val="solid"/>
          </a:ln>
        </p:spPr>
      </p:sp>
      <p:sp>
        <p:nvSpPr>
          <p:cNvPr id="12" name="Text 10"/>
          <p:cNvSpPr txBox="1"/>
          <p:nvPr/>
        </p:nvSpPr>
        <p:spPr>
          <a:xfrm>
            <a:off x="457200" y="2377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97280" y="234086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Compare with both children</a:t>
            </a:r>
            <a:endParaRPr lang="en-US" sz="1500" dirty="0"/>
          </a:p>
        </p:txBody>
      </p:sp>
      <p:sp>
        <p:nvSpPr>
          <p:cNvPr id="14" name="Text 12"/>
          <p:cNvSpPr txBox="1"/>
          <p:nvPr/>
        </p:nvSpPr>
        <p:spPr>
          <a:xfrm>
            <a:off x="1097280" y="261518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Find the more urgent child</a:t>
            </a:r>
            <a:endParaRPr lang="en-US" sz="1200" dirty="0"/>
          </a:p>
        </p:txBody>
      </p:sp>
      <p:sp>
        <p:nvSpPr>
          <p:cNvPr id="15" name="Shape 13"/>
          <p:cNvSpPr/>
          <p:nvPr/>
        </p:nvSpPr>
        <p:spPr>
          <a:xfrm>
            <a:off x="457200" y="3017520"/>
            <a:ext cx="457200" cy="457200"/>
          </a:xfrm>
          <a:prstGeom prst="ellipse">
            <a:avLst/>
          </a:prstGeom>
          <a:solidFill>
            <a:srgbClr val="F43F5E"/>
          </a:solidFill>
          <a:ln w="19050">
            <a:solidFill>
              <a:srgbClr val="FFFFFF"/>
            </a:solidFill>
            <a:prstDash val="solid"/>
          </a:ln>
        </p:spPr>
      </p:sp>
      <p:sp>
        <p:nvSpPr>
          <p:cNvPr id="16" name="Text 14"/>
          <p:cNvSpPr txBox="1"/>
          <p:nvPr/>
        </p:nvSpPr>
        <p:spPr>
          <a:xfrm>
            <a:off x="457200" y="30175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097280" y="2980944"/>
            <a:ext cx="3566160" cy="274320"/>
          </a:xfrm>
          <a:prstGeom prst="rect">
            <a:avLst/>
          </a:prstGeom>
          <a:noFill/>
          <a:ln/>
        </p:spPr>
        <p:txBody>
          <a:bodyPr wrap="square" lIns="0" tIns="0" rIns="0" bIns="0" rtlCol="0" anchor="ctr"/>
          <a:lstStyle/>
          <a:p>
            <a:pPr marL="0" indent="0">
              <a:buNone/>
            </a:pPr>
            <a:r>
              <a:rPr lang="en-US" sz="1500" b="1" dirty="0">
                <a:solidFill>
                  <a:srgbClr val="1E1B4B"/>
                </a:solidFill>
                <a:latin typeface="Calibri" pitchFamily="34" charset="0"/>
                <a:ea typeface="Calibri" pitchFamily="34" charset="-122"/>
                <a:cs typeface="Calibri" pitchFamily="34" charset="-120"/>
              </a:rPr>
              <a:t>Swap down, repeat</a:t>
            </a:r>
            <a:endParaRPr lang="en-US" sz="1500" dirty="0"/>
          </a:p>
        </p:txBody>
      </p:sp>
      <p:sp>
        <p:nvSpPr>
          <p:cNvPr id="18" name="Text 16"/>
          <p:cNvSpPr txBox="1"/>
          <p:nvPr/>
        </p:nvSpPr>
        <p:spPr>
          <a:xfrm>
            <a:off x="1097280" y="3255264"/>
            <a:ext cx="356616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Stop when no child is more urgent</a:t>
            </a:r>
            <a:endParaRPr lang="en-US" sz="1200" dirty="0"/>
          </a:p>
        </p:txBody>
      </p:sp>
      <p:sp>
        <p:nvSpPr>
          <p:cNvPr id="19" name="Shape 17"/>
          <p:cNvSpPr/>
          <p:nvPr/>
        </p:nvSpPr>
        <p:spPr>
          <a:xfrm>
            <a:off x="457200" y="3794760"/>
            <a:ext cx="4206240" cy="868680"/>
          </a:xfrm>
          <a:prstGeom prst="roundRect">
            <a:avLst>
              <a:gd name="adj" fmla="val 10526"/>
            </a:avLst>
          </a:prstGeom>
          <a:solidFill>
            <a:srgbClr val="1E1B4B"/>
          </a:solidFill>
          <a:ln w="12700">
            <a:solidFill>
              <a:srgbClr val="1E1B4B"/>
            </a:solidFill>
            <a:prstDash val="solid"/>
          </a:ln>
        </p:spPr>
      </p:sp>
      <p:sp>
        <p:nvSpPr>
          <p:cNvPr id="20" name="Text 18"/>
          <p:cNvSpPr txBox="1"/>
          <p:nvPr/>
        </p:nvSpPr>
        <p:spPr>
          <a:xfrm>
            <a:off x="594360" y="3794760"/>
            <a:ext cx="3931920" cy="868680"/>
          </a:xfrm>
          <a:prstGeom prst="rect">
            <a:avLst/>
          </a:prstGeom>
          <a:noFill/>
          <a:ln/>
        </p:spPr>
        <p:txBody>
          <a:bodyPr wrap="square" lIns="0" tIns="0" rIns="0" bIns="0" rtlCol="0" anchor="ctr"/>
          <a:lstStyle/>
          <a:p>
            <a:pPr marL="0" indent="0">
              <a:buNone/>
            </a:pPr>
            <a:r>
              <a:rPr lang="en-US" sz="1100" dirty="0">
                <a:solidFill>
                  <a:srgbClr val="DDD9FF"/>
                </a:solidFill>
                <a:latin typeface="Courier New" pitchFamily="34" charset="0"/>
                <a:ea typeface="Courier New" pitchFamily="34" charset="-122"/>
                <a:cs typeface="Courier New" pitchFamily="34" charset="-120"/>
              </a:rPr>
              <a:t>while a child is more urgent than h[i]:</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swap(i, most urgent child)</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i = that child</a:t>
            </a:r>
            <a:endParaRPr lang="en-US" sz="1100" dirty="0"/>
          </a:p>
        </p:txBody>
      </p:sp>
      <p:sp>
        <p:nvSpPr>
          <p:cNvPr id="21" name="Shape 19"/>
          <p:cNvSpPr/>
          <p:nvPr/>
        </p:nvSpPr>
        <p:spPr>
          <a:xfrm>
            <a:off x="4937760" y="1097280"/>
            <a:ext cx="3749040" cy="3566160"/>
          </a:xfrm>
          <a:prstGeom prst="roundRect">
            <a:avLst>
              <a:gd name="adj" fmla="val 2564"/>
            </a:avLst>
          </a:prstGeom>
          <a:solidFill>
            <a:srgbClr val="F5F3FF"/>
          </a:solidFill>
          <a:ln w="12700">
            <a:solidFill>
              <a:srgbClr val="F5F3FF"/>
            </a:solidFill>
            <a:prstDash val="solid"/>
          </a:ln>
        </p:spPr>
      </p:sp>
      <p:sp>
        <p:nvSpPr>
          <p:cNvPr id="22" name="Text 20"/>
          <p:cNvSpPr txBox="1"/>
          <p:nvPr/>
        </p:nvSpPr>
        <p:spPr>
          <a:xfrm>
            <a:off x="5120640" y="1234440"/>
            <a:ext cx="3474720" cy="274320"/>
          </a:xfrm>
          <a:prstGeom prst="rect">
            <a:avLst/>
          </a:prstGeom>
          <a:noFill/>
          <a:ln/>
        </p:spPr>
        <p:txBody>
          <a:bodyPr wrap="square" lIns="0" tIns="0" rIns="0" bIns="0" rtlCol="0" anchor="ctr"/>
          <a:lstStyle/>
          <a:p>
            <a:pPr marL="0" indent="0">
              <a:buNone/>
            </a:pPr>
            <a:r>
              <a:rPr lang="en-US" sz="1200" b="1" kern="0" spc="200" dirty="0">
                <a:solidFill>
                  <a:srgbClr val="F43F5E"/>
                </a:solidFill>
                <a:latin typeface="Calibri" pitchFamily="34" charset="0"/>
                <a:ea typeface="Calibri" pitchFamily="34" charset="-122"/>
                <a:cs typeface="Calibri" pitchFamily="34" charset="-120"/>
              </a:rPr>
              <a:t>EXAMPLE: DOCTOR IS FREE</a:t>
            </a:r>
            <a:endParaRPr lang="en-US" sz="1200" dirty="0"/>
          </a:p>
        </p:txBody>
      </p:sp>
      <p:sp>
        <p:nvSpPr>
          <p:cNvPr id="23" name="Text 21"/>
          <p:cNvSpPr txBox="1"/>
          <p:nvPr/>
        </p:nvSpPr>
        <p:spPr>
          <a:xfrm>
            <a:off x="5120640" y="1600200"/>
            <a:ext cx="1828800" cy="2286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Before</a:t>
            </a:r>
            <a:endParaRPr lang="en-US" sz="1200" dirty="0"/>
          </a:p>
        </p:txBody>
      </p:sp>
      <p:sp>
        <p:nvSpPr>
          <p:cNvPr id="24" name="Shape 22"/>
          <p:cNvSpPr/>
          <p:nvPr/>
        </p:nvSpPr>
        <p:spPr>
          <a:xfrm>
            <a:off x="5120640" y="1828800"/>
            <a:ext cx="566928" cy="411480"/>
          </a:xfrm>
          <a:prstGeom prst="roundRect">
            <a:avLst>
              <a:gd name="adj" fmla="val 22222"/>
            </a:avLst>
          </a:prstGeom>
          <a:solidFill>
            <a:srgbClr val="F43F5E"/>
          </a:solidFill>
          <a:ln w="12700">
            <a:solidFill>
              <a:srgbClr val="4F46E5"/>
            </a:solidFill>
            <a:prstDash val="solid"/>
          </a:ln>
        </p:spPr>
      </p:sp>
      <p:sp>
        <p:nvSpPr>
          <p:cNvPr id="25" name="Text 23"/>
          <p:cNvSpPr txBox="1"/>
          <p:nvPr/>
        </p:nvSpPr>
        <p:spPr>
          <a:xfrm>
            <a:off x="5120640"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Y5</a:t>
            </a:r>
            <a:endParaRPr lang="en-US" sz="1300" dirty="0"/>
          </a:p>
        </p:txBody>
      </p:sp>
      <p:sp>
        <p:nvSpPr>
          <p:cNvPr id="26" name="Shape 24"/>
          <p:cNvSpPr/>
          <p:nvPr/>
        </p:nvSpPr>
        <p:spPr>
          <a:xfrm>
            <a:off x="5742432" y="1828800"/>
            <a:ext cx="566928" cy="411480"/>
          </a:xfrm>
          <a:prstGeom prst="roundRect">
            <a:avLst>
              <a:gd name="adj" fmla="val 22222"/>
            </a:avLst>
          </a:prstGeom>
          <a:solidFill>
            <a:srgbClr val="4F46E5"/>
          </a:solidFill>
          <a:ln w="12700">
            <a:solidFill>
              <a:srgbClr val="4F46E5"/>
            </a:solidFill>
            <a:prstDash val="solid"/>
          </a:ln>
        </p:spPr>
      </p:sp>
      <p:sp>
        <p:nvSpPr>
          <p:cNvPr id="27" name="Text 25"/>
          <p:cNvSpPr txBox="1"/>
          <p:nvPr/>
        </p:nvSpPr>
        <p:spPr>
          <a:xfrm>
            <a:off x="5742432"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28" name="Shape 26"/>
          <p:cNvSpPr/>
          <p:nvPr/>
        </p:nvSpPr>
        <p:spPr>
          <a:xfrm>
            <a:off x="6364224" y="1828800"/>
            <a:ext cx="566928" cy="411480"/>
          </a:xfrm>
          <a:prstGeom prst="roundRect">
            <a:avLst>
              <a:gd name="adj" fmla="val 22222"/>
            </a:avLst>
          </a:prstGeom>
          <a:solidFill>
            <a:srgbClr val="F43F5E"/>
          </a:solidFill>
          <a:ln w="12700">
            <a:solidFill>
              <a:srgbClr val="4F46E5"/>
            </a:solidFill>
            <a:prstDash val="solid"/>
          </a:ln>
        </p:spPr>
      </p:sp>
      <p:sp>
        <p:nvSpPr>
          <p:cNvPr id="29" name="Text 27"/>
          <p:cNvSpPr txBox="1"/>
          <p:nvPr/>
        </p:nvSpPr>
        <p:spPr>
          <a:xfrm>
            <a:off x="6364224"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Z5</a:t>
            </a:r>
            <a:endParaRPr lang="en-US" sz="1300" dirty="0"/>
          </a:p>
        </p:txBody>
      </p:sp>
      <p:sp>
        <p:nvSpPr>
          <p:cNvPr id="30" name="Shape 28"/>
          <p:cNvSpPr/>
          <p:nvPr/>
        </p:nvSpPr>
        <p:spPr>
          <a:xfrm>
            <a:off x="6986016" y="1828800"/>
            <a:ext cx="566928" cy="411480"/>
          </a:xfrm>
          <a:prstGeom prst="roundRect">
            <a:avLst>
              <a:gd name="adj" fmla="val 22222"/>
            </a:avLst>
          </a:prstGeom>
          <a:solidFill>
            <a:srgbClr val="E08A00"/>
          </a:solidFill>
          <a:ln w="12700">
            <a:solidFill>
              <a:srgbClr val="4F46E5"/>
            </a:solidFill>
            <a:prstDash val="solid"/>
          </a:ln>
        </p:spPr>
      </p:sp>
      <p:sp>
        <p:nvSpPr>
          <p:cNvPr id="31" name="Text 29"/>
          <p:cNvSpPr txBox="1"/>
          <p:nvPr/>
        </p:nvSpPr>
        <p:spPr>
          <a:xfrm>
            <a:off x="6986016"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X2</a:t>
            </a:r>
            <a:endParaRPr lang="en-US" sz="1300" dirty="0"/>
          </a:p>
        </p:txBody>
      </p:sp>
      <p:sp>
        <p:nvSpPr>
          <p:cNvPr id="32" name="Shape 30"/>
          <p:cNvSpPr/>
          <p:nvPr/>
        </p:nvSpPr>
        <p:spPr>
          <a:xfrm>
            <a:off x="7607808" y="1828800"/>
            <a:ext cx="566928" cy="411480"/>
          </a:xfrm>
          <a:prstGeom prst="roundRect">
            <a:avLst>
              <a:gd name="adj" fmla="val 22222"/>
            </a:avLst>
          </a:prstGeom>
          <a:solidFill>
            <a:srgbClr val="E08A00"/>
          </a:solidFill>
          <a:ln w="12700">
            <a:solidFill>
              <a:srgbClr val="4F46E5"/>
            </a:solidFill>
            <a:prstDash val="solid"/>
          </a:ln>
        </p:spPr>
      </p:sp>
      <p:sp>
        <p:nvSpPr>
          <p:cNvPr id="33" name="Text 31"/>
          <p:cNvSpPr txBox="1"/>
          <p:nvPr/>
        </p:nvSpPr>
        <p:spPr>
          <a:xfrm>
            <a:off x="7607808" y="182880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34" name="Text 32"/>
          <p:cNvSpPr txBox="1"/>
          <p:nvPr/>
        </p:nvSpPr>
        <p:spPr>
          <a:xfrm>
            <a:off x="5120640" y="2377440"/>
            <a:ext cx="3474720" cy="1143000"/>
          </a:xfrm>
          <a:prstGeom prst="rect">
            <a:avLst/>
          </a:prstGeom>
          <a:noFill/>
          <a:ln/>
        </p:spPr>
        <p:txBody>
          <a:bodyPr wrap="square" lIns="0" tIns="0" rIns="0" bIns="0" rtlCol="0" anchor="ctr"/>
          <a:lstStyle/>
          <a:p>
            <a:pPr marL="0" indent="0">
              <a:buNone/>
            </a:pPr>
            <a:r>
              <a:rPr lang="en-US" sz="1200" dirty="0">
                <a:solidFill>
                  <a:srgbClr val="1E1B4B"/>
                </a:solidFill>
                <a:latin typeface="Calibri" pitchFamily="34" charset="0"/>
                <a:ea typeface="Calibri" pitchFamily="34" charset="-122"/>
                <a:cs typeface="Calibri" pitchFamily="34" charset="-120"/>
              </a:rPr>
              <a:t>1. Treat Y (the root), remove it</a:t>
            </a:r>
            <a:endParaRPr lang="en-US" sz="1200" dirty="0"/>
          </a:p>
          <a:p>
            <a:pPr marL="0" indent="0">
              <a:buNone/>
            </a:pPr>
            <a:r>
              <a:rPr lang="en-US" sz="1200" dirty="0">
                <a:solidFill>
                  <a:srgbClr val="1E1B4B"/>
                </a:solidFill>
                <a:latin typeface="Calibri" pitchFamily="34" charset="0"/>
                <a:ea typeface="Calibri" pitchFamily="34" charset="-122"/>
                <a:cs typeface="Calibri" pitchFamily="34" charset="-120"/>
              </a:rPr>
              <a:t>2. Move last element Q2 to the root</a:t>
            </a:r>
            <a:endParaRPr lang="en-US" sz="1200" dirty="0"/>
          </a:p>
          <a:p>
            <a:pPr marL="0" indent="0">
              <a:buNone/>
            </a:pPr>
            <a:r>
              <a:rPr lang="en-US" sz="1200" dirty="0">
                <a:solidFill>
                  <a:srgbClr val="1E1B4B"/>
                </a:solidFill>
                <a:latin typeface="Calibri" pitchFamily="34" charset="0"/>
                <a:ea typeface="Calibri" pitchFamily="34" charset="-122"/>
                <a:cs typeface="Calibri" pitchFamily="34" charset="-120"/>
              </a:rPr>
              <a:t>3. Children are P3 and Z5; Z5 is more urgent: swap</a:t>
            </a:r>
            <a:endParaRPr lang="en-US" sz="1200" dirty="0"/>
          </a:p>
          <a:p>
            <a:pPr marL="0" indent="0">
              <a:buNone/>
            </a:pPr>
            <a:r>
              <a:rPr lang="en-US" sz="1200" dirty="0">
                <a:solidFill>
                  <a:srgbClr val="1E1B4B"/>
                </a:solidFill>
                <a:latin typeface="Calibri" pitchFamily="34" charset="0"/>
                <a:ea typeface="Calibri" pitchFamily="34" charset="-122"/>
                <a:cs typeface="Calibri" pitchFamily="34" charset="-120"/>
              </a:rPr>
              <a:t>4. Q2 has no children left, stop</a:t>
            </a:r>
            <a:endParaRPr lang="en-US" sz="1200" dirty="0"/>
          </a:p>
        </p:txBody>
      </p:sp>
      <p:sp>
        <p:nvSpPr>
          <p:cNvPr id="35" name="Text 33"/>
          <p:cNvSpPr txBox="1"/>
          <p:nvPr/>
        </p:nvSpPr>
        <p:spPr>
          <a:xfrm>
            <a:off x="5120640" y="3566160"/>
            <a:ext cx="1828800" cy="2286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After</a:t>
            </a:r>
            <a:endParaRPr lang="en-US" sz="1200" dirty="0"/>
          </a:p>
        </p:txBody>
      </p:sp>
      <p:sp>
        <p:nvSpPr>
          <p:cNvPr id="36" name="Shape 34"/>
          <p:cNvSpPr/>
          <p:nvPr/>
        </p:nvSpPr>
        <p:spPr>
          <a:xfrm>
            <a:off x="5120640" y="3794760"/>
            <a:ext cx="566928" cy="411480"/>
          </a:xfrm>
          <a:prstGeom prst="roundRect">
            <a:avLst>
              <a:gd name="adj" fmla="val 22222"/>
            </a:avLst>
          </a:prstGeom>
          <a:solidFill>
            <a:srgbClr val="F43F5E"/>
          </a:solidFill>
          <a:ln w="12700">
            <a:solidFill>
              <a:srgbClr val="4F46E5"/>
            </a:solidFill>
            <a:prstDash val="solid"/>
          </a:ln>
        </p:spPr>
      </p:sp>
      <p:sp>
        <p:nvSpPr>
          <p:cNvPr id="37" name="Text 35"/>
          <p:cNvSpPr txBox="1"/>
          <p:nvPr/>
        </p:nvSpPr>
        <p:spPr>
          <a:xfrm>
            <a:off x="5120640" y="379476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Z5</a:t>
            </a:r>
            <a:endParaRPr lang="en-US" sz="1300" dirty="0"/>
          </a:p>
        </p:txBody>
      </p:sp>
      <p:sp>
        <p:nvSpPr>
          <p:cNvPr id="38" name="Shape 36"/>
          <p:cNvSpPr/>
          <p:nvPr/>
        </p:nvSpPr>
        <p:spPr>
          <a:xfrm>
            <a:off x="5742432" y="3794760"/>
            <a:ext cx="566928" cy="411480"/>
          </a:xfrm>
          <a:prstGeom prst="roundRect">
            <a:avLst>
              <a:gd name="adj" fmla="val 22222"/>
            </a:avLst>
          </a:prstGeom>
          <a:solidFill>
            <a:srgbClr val="4F46E5"/>
          </a:solidFill>
          <a:ln w="12700">
            <a:solidFill>
              <a:srgbClr val="4F46E5"/>
            </a:solidFill>
            <a:prstDash val="solid"/>
          </a:ln>
        </p:spPr>
      </p:sp>
      <p:sp>
        <p:nvSpPr>
          <p:cNvPr id="39" name="Text 37"/>
          <p:cNvSpPr txBox="1"/>
          <p:nvPr/>
        </p:nvSpPr>
        <p:spPr>
          <a:xfrm>
            <a:off x="5742432" y="379476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40" name="Shape 38"/>
          <p:cNvSpPr/>
          <p:nvPr/>
        </p:nvSpPr>
        <p:spPr>
          <a:xfrm>
            <a:off x="6364224" y="3794760"/>
            <a:ext cx="566928" cy="411480"/>
          </a:xfrm>
          <a:prstGeom prst="roundRect">
            <a:avLst>
              <a:gd name="adj" fmla="val 22222"/>
            </a:avLst>
          </a:prstGeom>
          <a:solidFill>
            <a:srgbClr val="E08A00"/>
          </a:solidFill>
          <a:ln w="12700">
            <a:solidFill>
              <a:srgbClr val="4F46E5"/>
            </a:solidFill>
            <a:prstDash val="solid"/>
          </a:ln>
        </p:spPr>
      </p:sp>
      <p:sp>
        <p:nvSpPr>
          <p:cNvPr id="41" name="Text 39"/>
          <p:cNvSpPr txBox="1"/>
          <p:nvPr/>
        </p:nvSpPr>
        <p:spPr>
          <a:xfrm>
            <a:off x="6364224" y="379476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42" name="Shape 40"/>
          <p:cNvSpPr/>
          <p:nvPr/>
        </p:nvSpPr>
        <p:spPr>
          <a:xfrm>
            <a:off x="6986016" y="3794760"/>
            <a:ext cx="566928" cy="411480"/>
          </a:xfrm>
          <a:prstGeom prst="roundRect">
            <a:avLst>
              <a:gd name="adj" fmla="val 22222"/>
            </a:avLst>
          </a:prstGeom>
          <a:solidFill>
            <a:srgbClr val="E08A00"/>
          </a:solidFill>
          <a:ln w="12700">
            <a:solidFill>
              <a:srgbClr val="4F46E5"/>
            </a:solidFill>
            <a:prstDash val="solid"/>
          </a:ln>
        </p:spPr>
      </p:sp>
      <p:sp>
        <p:nvSpPr>
          <p:cNvPr id="43" name="Text 41"/>
          <p:cNvSpPr txBox="1"/>
          <p:nvPr/>
        </p:nvSpPr>
        <p:spPr>
          <a:xfrm>
            <a:off x="6986016" y="3794760"/>
            <a:ext cx="566928"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X2</a:t>
            </a:r>
            <a:endParaRPr lang="en-US" sz="1300" dirty="0"/>
          </a:p>
        </p:txBody>
      </p:sp>
      <p:sp>
        <p:nvSpPr>
          <p:cNvPr id="44" name="Text 42"/>
          <p:cNvSpPr txBox="1"/>
          <p:nvPr/>
        </p:nvSpPr>
        <p:spPr>
          <a:xfrm>
            <a:off x="5120640" y="4297680"/>
            <a:ext cx="3474720" cy="274320"/>
          </a:xfrm>
          <a:prstGeom prst="rect">
            <a:avLst/>
          </a:prstGeom>
          <a:noFill/>
          <a:ln/>
        </p:spPr>
        <p:txBody>
          <a:bodyPr wrap="square" lIns="0" tIns="0" rIns="0" bIns="0" rtlCol="0" anchor="ctr"/>
          <a:lstStyle/>
          <a:p>
            <a:pPr marL="0" indent="0">
              <a:buNone/>
            </a:pPr>
            <a:r>
              <a:rPr lang="en-US" sz="1100" i="1" dirty="0">
                <a:solidFill>
                  <a:srgbClr val="4F46E5"/>
                </a:solidFill>
                <a:latin typeface="Calibri" pitchFamily="34" charset="0"/>
                <a:ea typeface="Calibri" pitchFamily="34" charset="-122"/>
                <a:cs typeface="Calibri" pitchFamily="34" charset="-120"/>
              </a:rPr>
              <a:t>Cost: O(log n). Peek (just look at root) is O(1)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E1B4B"/>
                </a:solidFill>
                <a:latin typeface="Cambria" pitchFamily="34" charset="0"/>
                <a:ea typeface="Cambria" pitchFamily="34" charset="-122"/>
                <a:cs typeface="Cambria" pitchFamily="34" charset="-120"/>
              </a:rPr>
              <a:t>Handling Ties + Full Walkthrough</a:t>
            </a:r>
            <a:endParaRPr lang="en-US" sz="3200" dirty="0"/>
          </a:p>
        </p:txBody>
      </p:sp>
      <p:sp>
        <p:nvSpPr>
          <p:cNvPr id="3" name="Shape 1"/>
          <p:cNvSpPr/>
          <p:nvPr/>
        </p:nvSpPr>
        <p:spPr>
          <a:xfrm>
            <a:off x="457200" y="1097280"/>
            <a:ext cx="3566160" cy="3611880"/>
          </a:xfrm>
          <a:prstGeom prst="roundRect">
            <a:avLst>
              <a:gd name="adj" fmla="val 2564"/>
            </a:avLst>
          </a:prstGeom>
          <a:solidFill>
            <a:srgbClr val="1E1B4B"/>
          </a:solidFill>
          <a:ln w="12700">
            <a:solidFill>
              <a:srgbClr val="1E1B4B"/>
            </a:solidFill>
            <a:prstDash val="solid"/>
          </a:ln>
        </p:spPr>
      </p:sp>
      <p:sp>
        <p:nvSpPr>
          <p:cNvPr id="4" name="Text 2"/>
          <p:cNvSpPr txBox="1"/>
          <p:nvPr/>
        </p:nvSpPr>
        <p:spPr>
          <a:xfrm>
            <a:off x="685800" y="1234440"/>
            <a:ext cx="3108960" cy="365760"/>
          </a:xfrm>
          <a:prstGeom prst="rect">
            <a:avLst/>
          </a:prstGeom>
          <a:noFill/>
          <a:ln/>
        </p:spPr>
        <p:txBody>
          <a:bodyPr wrap="square" lIns="0" tIns="0" rIns="0" bIns="0" rtlCol="0" anchor="ctr"/>
          <a:lstStyle/>
          <a:p>
            <a:pPr marL="0" indent="0">
              <a:buNone/>
            </a:pPr>
            <a:r>
              <a:rPr lang="en-US" sz="1800" b="1" dirty="0">
                <a:solidFill>
                  <a:srgbClr val="E08A00"/>
                </a:solidFill>
                <a:latin typeface="Cambria" pitchFamily="34" charset="0"/>
                <a:ea typeface="Cambria" pitchFamily="34" charset="-122"/>
                <a:cs typeface="Cambria" pitchFamily="34" charset="-120"/>
              </a:rPr>
              <a:t>A heap is not stable</a:t>
            </a:r>
            <a:endParaRPr lang="en-US" sz="1800" dirty="0"/>
          </a:p>
        </p:txBody>
      </p:sp>
      <p:sp>
        <p:nvSpPr>
          <p:cNvPr id="5" name="Text 3"/>
          <p:cNvSpPr txBox="1"/>
          <p:nvPr/>
        </p:nvSpPr>
        <p:spPr>
          <a:xfrm>
            <a:off x="685800" y="1645920"/>
            <a:ext cx="3108960" cy="8229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Equal priorities may come out in any order. Fix: give each patient an arrival number and compare both.</a:t>
            </a:r>
            <a:endParaRPr lang="en-US" sz="1300" dirty="0"/>
          </a:p>
        </p:txBody>
      </p:sp>
      <p:sp>
        <p:nvSpPr>
          <p:cNvPr id="6" name="Text 4"/>
          <p:cNvSpPr txBox="1"/>
          <p:nvPr/>
        </p:nvSpPr>
        <p:spPr>
          <a:xfrm>
            <a:off x="685800" y="2514600"/>
            <a:ext cx="3108960" cy="1005840"/>
          </a:xfrm>
          <a:prstGeom prst="rect">
            <a:avLst/>
          </a:prstGeom>
          <a:noFill/>
          <a:ln/>
        </p:spPr>
        <p:txBody>
          <a:bodyPr wrap="square" lIns="0" tIns="0" rIns="0" bIns="0" rtlCol="0" anchor="ctr"/>
          <a:lstStyle/>
          <a:p>
            <a:pPr marL="0" indent="0">
              <a:buNone/>
            </a:pPr>
            <a:r>
              <a:rPr lang="en-US" sz="1100" dirty="0">
                <a:solidFill>
                  <a:srgbClr val="DDD9FF"/>
                </a:solidFill>
                <a:latin typeface="Courier New" pitchFamily="34" charset="0"/>
                <a:ea typeface="Courier New" pitchFamily="34" charset="-122"/>
                <a:cs typeface="Courier New" pitchFamily="34" charset="-120"/>
              </a:rPr>
              <a:t>A before B if</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A.priority &gt; B.priority</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OR same priority AND</a:t>
            </a:r>
            <a:endParaRPr lang="en-US" sz="1100" dirty="0"/>
          </a:p>
          <a:p>
            <a:pPr marL="0" indent="0">
              <a:buNone/>
            </a:pPr>
            <a:r>
              <a:rPr lang="en-US" sz="1100" dirty="0">
                <a:solidFill>
                  <a:srgbClr val="DDD9FF"/>
                </a:solidFill>
                <a:latin typeface="Courier New" pitchFamily="34" charset="0"/>
                <a:ea typeface="Courier New" pitchFamily="34" charset="-122"/>
                <a:cs typeface="Courier New" pitchFamily="34" charset="-120"/>
              </a:rPr>
              <a:t>     A.arrival &lt; B.arrival</a:t>
            </a:r>
            <a:endParaRPr lang="en-US" sz="1100" dirty="0"/>
          </a:p>
        </p:txBody>
      </p:sp>
      <p:sp>
        <p:nvSpPr>
          <p:cNvPr id="7" name="Text 5"/>
          <p:cNvSpPr txBox="1"/>
          <p:nvPr/>
        </p:nvSpPr>
        <p:spPr>
          <a:xfrm>
            <a:off x="685800" y="3611880"/>
            <a:ext cx="3108960" cy="822960"/>
          </a:xfrm>
          <a:prstGeom prst="rect">
            <a:avLst/>
          </a:prstGeom>
          <a:noFill/>
          <a:ln/>
        </p:spPr>
        <p:txBody>
          <a:bodyPr wrap="square" lIns="0" tIns="0" rIns="0" bIns="0" rtlCol="0" anchor="ctr"/>
          <a:lstStyle/>
          <a:p>
            <a:pPr marL="0" indent="0">
              <a:buNone/>
            </a:pPr>
            <a:r>
              <a:rPr lang="en-US" sz="1200" i="1" dirty="0">
                <a:solidFill>
                  <a:srgbClr val="E08A00"/>
                </a:solidFill>
                <a:latin typeface="Calibri" pitchFamily="34" charset="0"/>
                <a:ea typeface="Calibri" pitchFamily="34" charset="-122"/>
                <a:cs typeface="Calibri" pitchFamily="34" charset="-120"/>
              </a:rPr>
              <a:t>Y5 and Z5 tie: Y arrived earlier, so Y first. X2 and Q2 tie: X first.</a:t>
            </a:r>
            <a:endParaRPr lang="en-US" sz="1200" dirty="0"/>
          </a:p>
        </p:txBody>
      </p:sp>
      <p:sp>
        <p:nvSpPr>
          <p:cNvPr id="8" name="Text 6"/>
          <p:cNvSpPr txBox="1"/>
          <p:nvPr/>
        </p:nvSpPr>
        <p:spPr>
          <a:xfrm>
            <a:off x="4389120" y="1097280"/>
            <a:ext cx="4297680" cy="274320"/>
          </a:xfrm>
          <a:prstGeom prst="rect">
            <a:avLst/>
          </a:prstGeom>
          <a:noFill/>
          <a:ln/>
        </p:spPr>
        <p:txBody>
          <a:bodyPr wrap="square" lIns="0" tIns="0" rIns="0" bIns="0" rtlCol="0" anchor="ctr"/>
          <a:lstStyle/>
          <a:p>
            <a:pPr marL="0" indent="0">
              <a:buNone/>
            </a:pPr>
            <a:r>
              <a:rPr lang="en-US" sz="1200" b="1" kern="0" spc="200" dirty="0">
                <a:solidFill>
                  <a:srgbClr val="4F46E5"/>
                </a:solidFill>
                <a:latin typeface="Calibri" pitchFamily="34" charset="0"/>
                <a:ea typeface="Calibri" pitchFamily="34" charset="-122"/>
                <a:cs typeface="Calibri" pitchFamily="34" charset="-120"/>
              </a:rPr>
              <a:t>HEAP AFTER EACH INSERT</a:t>
            </a:r>
            <a:endParaRPr lang="en-US" sz="1200" dirty="0"/>
          </a:p>
        </p:txBody>
      </p:sp>
      <p:sp>
        <p:nvSpPr>
          <p:cNvPr id="9" name="Text 7"/>
          <p:cNvSpPr txBox="1"/>
          <p:nvPr/>
        </p:nvSpPr>
        <p:spPr>
          <a:xfrm>
            <a:off x="4389120" y="1417320"/>
            <a:ext cx="1097280" cy="384048"/>
          </a:xfrm>
          <a:prstGeom prst="rect">
            <a:avLst/>
          </a:prstGeom>
          <a:noFill/>
          <a:ln/>
        </p:spPr>
        <p:txBody>
          <a:bodyPr wrap="square" lIns="0" tIns="0" rIns="0" bIns="0" rtlCol="0" anchor="ctr"/>
          <a:lstStyle/>
          <a:p>
            <a:pPr marL="0" indent="0">
              <a:buNone/>
            </a:pPr>
            <a:r>
              <a:rPr lang="en-US" sz="1300" b="1" dirty="0">
                <a:solidFill>
                  <a:srgbClr val="1E1B4B"/>
                </a:solidFill>
                <a:latin typeface="Calibri" pitchFamily="34" charset="0"/>
                <a:ea typeface="Calibri" pitchFamily="34" charset="-122"/>
                <a:cs typeface="Calibri" pitchFamily="34" charset="-120"/>
              </a:rPr>
              <a:t>+ X (2)</a:t>
            </a:r>
            <a:endParaRPr lang="en-US" sz="1300" dirty="0"/>
          </a:p>
        </p:txBody>
      </p:sp>
      <p:sp>
        <p:nvSpPr>
          <p:cNvPr id="10" name="Shape 8"/>
          <p:cNvSpPr/>
          <p:nvPr/>
        </p:nvSpPr>
        <p:spPr>
          <a:xfrm>
            <a:off x="5486400" y="1417320"/>
            <a:ext cx="3200400" cy="384048"/>
          </a:xfrm>
          <a:prstGeom prst="roundRect">
            <a:avLst>
              <a:gd name="adj" fmla="val 23810"/>
            </a:avLst>
          </a:prstGeom>
          <a:solidFill>
            <a:srgbClr val="FFFFFF"/>
          </a:solidFill>
          <a:ln w="12700">
            <a:solidFill>
              <a:srgbClr val="FFFFFF"/>
            </a:solidFill>
            <a:prstDash val="solid"/>
          </a:ln>
        </p:spPr>
      </p:sp>
      <p:sp>
        <p:nvSpPr>
          <p:cNvPr id="11" name="Text 9"/>
          <p:cNvSpPr txBox="1"/>
          <p:nvPr/>
        </p:nvSpPr>
        <p:spPr>
          <a:xfrm>
            <a:off x="5623560" y="1417320"/>
            <a:ext cx="3017520" cy="384048"/>
          </a:xfrm>
          <a:prstGeom prst="rect">
            <a:avLst/>
          </a:prstGeom>
          <a:noFill/>
          <a:ln/>
        </p:spPr>
        <p:txBody>
          <a:bodyPr wrap="square" lIns="0" tIns="0" rIns="0" bIns="0" rtlCol="0" anchor="ctr"/>
          <a:lstStyle/>
          <a:p>
            <a:pPr marL="0" indent="0">
              <a:buNone/>
            </a:pPr>
            <a:r>
              <a:rPr lang="en-US" sz="1200" dirty="0">
                <a:solidFill>
                  <a:srgbClr val="1E1B4B"/>
                </a:solidFill>
                <a:latin typeface="Courier New" pitchFamily="34" charset="0"/>
                <a:ea typeface="Courier New" pitchFamily="34" charset="-122"/>
                <a:cs typeface="Courier New" pitchFamily="34" charset="-120"/>
              </a:rPr>
              <a:t>X2</a:t>
            </a:r>
            <a:endParaRPr lang="en-US" sz="1200" dirty="0"/>
          </a:p>
        </p:txBody>
      </p:sp>
      <p:sp>
        <p:nvSpPr>
          <p:cNvPr id="12" name="Text 10"/>
          <p:cNvSpPr txBox="1"/>
          <p:nvPr/>
        </p:nvSpPr>
        <p:spPr>
          <a:xfrm>
            <a:off x="4389120" y="1874520"/>
            <a:ext cx="1097280" cy="384048"/>
          </a:xfrm>
          <a:prstGeom prst="rect">
            <a:avLst/>
          </a:prstGeom>
          <a:noFill/>
          <a:ln/>
        </p:spPr>
        <p:txBody>
          <a:bodyPr wrap="square" lIns="0" tIns="0" rIns="0" bIns="0" rtlCol="0" anchor="ctr"/>
          <a:lstStyle/>
          <a:p>
            <a:pPr marL="0" indent="0">
              <a:buNone/>
            </a:pPr>
            <a:r>
              <a:rPr lang="en-US" sz="1300" b="1" dirty="0">
                <a:solidFill>
                  <a:srgbClr val="1E1B4B"/>
                </a:solidFill>
                <a:latin typeface="Calibri" pitchFamily="34" charset="0"/>
                <a:ea typeface="Calibri" pitchFamily="34" charset="-122"/>
                <a:cs typeface="Calibri" pitchFamily="34" charset="-120"/>
              </a:rPr>
              <a:t>+ Y (5)</a:t>
            </a:r>
            <a:endParaRPr lang="en-US" sz="1300" dirty="0"/>
          </a:p>
        </p:txBody>
      </p:sp>
      <p:sp>
        <p:nvSpPr>
          <p:cNvPr id="13" name="Shape 11"/>
          <p:cNvSpPr/>
          <p:nvPr/>
        </p:nvSpPr>
        <p:spPr>
          <a:xfrm>
            <a:off x="5486400" y="1874520"/>
            <a:ext cx="3200400" cy="384048"/>
          </a:xfrm>
          <a:prstGeom prst="roundRect">
            <a:avLst>
              <a:gd name="adj" fmla="val 23810"/>
            </a:avLst>
          </a:prstGeom>
          <a:solidFill>
            <a:srgbClr val="FFFFFF"/>
          </a:solidFill>
          <a:ln w="12700">
            <a:solidFill>
              <a:srgbClr val="FFFFFF"/>
            </a:solidFill>
            <a:prstDash val="solid"/>
          </a:ln>
        </p:spPr>
      </p:sp>
      <p:sp>
        <p:nvSpPr>
          <p:cNvPr id="14" name="Text 12"/>
          <p:cNvSpPr txBox="1"/>
          <p:nvPr/>
        </p:nvSpPr>
        <p:spPr>
          <a:xfrm>
            <a:off x="5623560" y="1874520"/>
            <a:ext cx="3017520" cy="384048"/>
          </a:xfrm>
          <a:prstGeom prst="rect">
            <a:avLst/>
          </a:prstGeom>
          <a:noFill/>
          <a:ln/>
        </p:spPr>
        <p:txBody>
          <a:bodyPr wrap="square" lIns="0" tIns="0" rIns="0" bIns="0" rtlCol="0" anchor="ctr"/>
          <a:lstStyle/>
          <a:p>
            <a:pPr marL="0" indent="0">
              <a:buNone/>
            </a:pPr>
            <a:r>
              <a:rPr lang="en-US" sz="1200" dirty="0">
                <a:solidFill>
                  <a:srgbClr val="1E1B4B"/>
                </a:solidFill>
                <a:latin typeface="Courier New" pitchFamily="34" charset="0"/>
                <a:ea typeface="Courier New" pitchFamily="34" charset="-122"/>
                <a:cs typeface="Courier New" pitchFamily="34" charset="-120"/>
              </a:rPr>
              <a:t>Y5  X2</a:t>
            </a:r>
            <a:endParaRPr lang="en-US" sz="1200" dirty="0"/>
          </a:p>
        </p:txBody>
      </p:sp>
      <p:sp>
        <p:nvSpPr>
          <p:cNvPr id="15" name="Text 13"/>
          <p:cNvSpPr txBox="1"/>
          <p:nvPr/>
        </p:nvSpPr>
        <p:spPr>
          <a:xfrm>
            <a:off x="4389120" y="2331720"/>
            <a:ext cx="1097280" cy="384048"/>
          </a:xfrm>
          <a:prstGeom prst="rect">
            <a:avLst/>
          </a:prstGeom>
          <a:noFill/>
          <a:ln/>
        </p:spPr>
        <p:txBody>
          <a:bodyPr wrap="square" lIns="0" tIns="0" rIns="0" bIns="0" rtlCol="0" anchor="ctr"/>
          <a:lstStyle/>
          <a:p>
            <a:pPr marL="0" indent="0">
              <a:buNone/>
            </a:pPr>
            <a:r>
              <a:rPr lang="en-US" sz="1300" b="1" dirty="0">
                <a:solidFill>
                  <a:srgbClr val="1E1B4B"/>
                </a:solidFill>
                <a:latin typeface="Calibri" pitchFamily="34" charset="0"/>
                <a:ea typeface="Calibri" pitchFamily="34" charset="-122"/>
                <a:cs typeface="Calibri" pitchFamily="34" charset="-120"/>
              </a:rPr>
              <a:t>+ Z (5)</a:t>
            </a:r>
            <a:endParaRPr lang="en-US" sz="1300" dirty="0"/>
          </a:p>
        </p:txBody>
      </p:sp>
      <p:sp>
        <p:nvSpPr>
          <p:cNvPr id="16" name="Shape 14"/>
          <p:cNvSpPr/>
          <p:nvPr/>
        </p:nvSpPr>
        <p:spPr>
          <a:xfrm>
            <a:off x="5486400" y="2331720"/>
            <a:ext cx="3200400" cy="384048"/>
          </a:xfrm>
          <a:prstGeom prst="roundRect">
            <a:avLst>
              <a:gd name="adj" fmla="val 23810"/>
            </a:avLst>
          </a:prstGeom>
          <a:solidFill>
            <a:srgbClr val="FFFFFF"/>
          </a:solidFill>
          <a:ln w="12700">
            <a:solidFill>
              <a:srgbClr val="FFFFFF"/>
            </a:solidFill>
            <a:prstDash val="solid"/>
          </a:ln>
        </p:spPr>
      </p:sp>
      <p:sp>
        <p:nvSpPr>
          <p:cNvPr id="17" name="Text 15"/>
          <p:cNvSpPr txBox="1"/>
          <p:nvPr/>
        </p:nvSpPr>
        <p:spPr>
          <a:xfrm>
            <a:off x="5623560" y="2331720"/>
            <a:ext cx="3017520" cy="384048"/>
          </a:xfrm>
          <a:prstGeom prst="rect">
            <a:avLst/>
          </a:prstGeom>
          <a:noFill/>
          <a:ln/>
        </p:spPr>
        <p:txBody>
          <a:bodyPr wrap="square" lIns="0" tIns="0" rIns="0" bIns="0" rtlCol="0" anchor="ctr"/>
          <a:lstStyle/>
          <a:p>
            <a:pPr marL="0" indent="0">
              <a:buNone/>
            </a:pPr>
            <a:r>
              <a:rPr lang="en-US" sz="1200" dirty="0">
                <a:solidFill>
                  <a:srgbClr val="1E1B4B"/>
                </a:solidFill>
                <a:latin typeface="Courier New" pitchFamily="34" charset="0"/>
                <a:ea typeface="Courier New" pitchFamily="34" charset="-122"/>
                <a:cs typeface="Courier New" pitchFamily="34" charset="-120"/>
              </a:rPr>
              <a:t>Y5  X2  Z5</a:t>
            </a:r>
            <a:endParaRPr lang="en-US" sz="1200" dirty="0"/>
          </a:p>
        </p:txBody>
      </p:sp>
      <p:sp>
        <p:nvSpPr>
          <p:cNvPr id="18" name="Text 16"/>
          <p:cNvSpPr txBox="1"/>
          <p:nvPr/>
        </p:nvSpPr>
        <p:spPr>
          <a:xfrm>
            <a:off x="4389120" y="2788920"/>
            <a:ext cx="1097280" cy="384048"/>
          </a:xfrm>
          <a:prstGeom prst="rect">
            <a:avLst/>
          </a:prstGeom>
          <a:noFill/>
          <a:ln/>
        </p:spPr>
        <p:txBody>
          <a:bodyPr wrap="square" lIns="0" tIns="0" rIns="0" bIns="0" rtlCol="0" anchor="ctr"/>
          <a:lstStyle/>
          <a:p>
            <a:pPr marL="0" indent="0">
              <a:buNone/>
            </a:pPr>
            <a:r>
              <a:rPr lang="en-US" sz="1300" b="1" dirty="0">
                <a:solidFill>
                  <a:srgbClr val="1E1B4B"/>
                </a:solidFill>
                <a:latin typeface="Calibri" pitchFamily="34" charset="0"/>
                <a:ea typeface="Calibri" pitchFamily="34" charset="-122"/>
                <a:cs typeface="Calibri" pitchFamily="34" charset="-120"/>
              </a:rPr>
              <a:t>+ P (3)</a:t>
            </a:r>
            <a:endParaRPr lang="en-US" sz="1300" dirty="0"/>
          </a:p>
        </p:txBody>
      </p:sp>
      <p:sp>
        <p:nvSpPr>
          <p:cNvPr id="19" name="Shape 17"/>
          <p:cNvSpPr/>
          <p:nvPr/>
        </p:nvSpPr>
        <p:spPr>
          <a:xfrm>
            <a:off x="5486400" y="2788920"/>
            <a:ext cx="3200400" cy="384048"/>
          </a:xfrm>
          <a:prstGeom prst="roundRect">
            <a:avLst>
              <a:gd name="adj" fmla="val 23810"/>
            </a:avLst>
          </a:prstGeom>
          <a:solidFill>
            <a:srgbClr val="FFFFFF"/>
          </a:solidFill>
          <a:ln w="12700">
            <a:solidFill>
              <a:srgbClr val="FFFFFF"/>
            </a:solidFill>
            <a:prstDash val="solid"/>
          </a:ln>
        </p:spPr>
      </p:sp>
      <p:sp>
        <p:nvSpPr>
          <p:cNvPr id="20" name="Text 18"/>
          <p:cNvSpPr txBox="1"/>
          <p:nvPr/>
        </p:nvSpPr>
        <p:spPr>
          <a:xfrm>
            <a:off x="5623560" y="2788920"/>
            <a:ext cx="3017520" cy="384048"/>
          </a:xfrm>
          <a:prstGeom prst="rect">
            <a:avLst/>
          </a:prstGeom>
          <a:noFill/>
          <a:ln/>
        </p:spPr>
        <p:txBody>
          <a:bodyPr wrap="square" lIns="0" tIns="0" rIns="0" bIns="0" rtlCol="0" anchor="ctr"/>
          <a:lstStyle/>
          <a:p>
            <a:pPr marL="0" indent="0">
              <a:buNone/>
            </a:pPr>
            <a:r>
              <a:rPr lang="en-US" sz="1200" dirty="0">
                <a:solidFill>
                  <a:srgbClr val="1E1B4B"/>
                </a:solidFill>
                <a:latin typeface="Courier New" pitchFamily="34" charset="0"/>
                <a:ea typeface="Courier New" pitchFamily="34" charset="-122"/>
                <a:cs typeface="Courier New" pitchFamily="34" charset="-120"/>
              </a:rPr>
              <a:t>Y5  P3  Z5  X2</a:t>
            </a:r>
            <a:endParaRPr lang="en-US" sz="1200" dirty="0"/>
          </a:p>
        </p:txBody>
      </p:sp>
      <p:sp>
        <p:nvSpPr>
          <p:cNvPr id="21" name="Text 19"/>
          <p:cNvSpPr txBox="1"/>
          <p:nvPr/>
        </p:nvSpPr>
        <p:spPr>
          <a:xfrm>
            <a:off x="4389120" y="3246120"/>
            <a:ext cx="1097280" cy="384048"/>
          </a:xfrm>
          <a:prstGeom prst="rect">
            <a:avLst/>
          </a:prstGeom>
          <a:noFill/>
          <a:ln/>
        </p:spPr>
        <p:txBody>
          <a:bodyPr wrap="square" lIns="0" tIns="0" rIns="0" bIns="0" rtlCol="0" anchor="ctr"/>
          <a:lstStyle/>
          <a:p>
            <a:pPr marL="0" indent="0">
              <a:buNone/>
            </a:pPr>
            <a:r>
              <a:rPr lang="en-US" sz="1300" b="1" dirty="0">
                <a:solidFill>
                  <a:srgbClr val="1E1B4B"/>
                </a:solidFill>
                <a:latin typeface="Calibri" pitchFamily="34" charset="0"/>
                <a:ea typeface="Calibri" pitchFamily="34" charset="-122"/>
                <a:cs typeface="Calibri" pitchFamily="34" charset="-120"/>
              </a:rPr>
              <a:t>+ Q (2)</a:t>
            </a:r>
            <a:endParaRPr lang="en-US" sz="1300" dirty="0"/>
          </a:p>
        </p:txBody>
      </p:sp>
      <p:sp>
        <p:nvSpPr>
          <p:cNvPr id="22" name="Shape 20"/>
          <p:cNvSpPr/>
          <p:nvPr/>
        </p:nvSpPr>
        <p:spPr>
          <a:xfrm>
            <a:off x="5486400" y="3246120"/>
            <a:ext cx="3200400" cy="384048"/>
          </a:xfrm>
          <a:prstGeom prst="roundRect">
            <a:avLst>
              <a:gd name="adj" fmla="val 23810"/>
            </a:avLst>
          </a:prstGeom>
          <a:solidFill>
            <a:srgbClr val="FFFFFF"/>
          </a:solidFill>
          <a:ln w="12700">
            <a:solidFill>
              <a:srgbClr val="FFFFFF"/>
            </a:solidFill>
            <a:prstDash val="solid"/>
          </a:ln>
        </p:spPr>
      </p:sp>
      <p:sp>
        <p:nvSpPr>
          <p:cNvPr id="23" name="Text 21"/>
          <p:cNvSpPr txBox="1"/>
          <p:nvPr/>
        </p:nvSpPr>
        <p:spPr>
          <a:xfrm>
            <a:off x="5623560" y="3246120"/>
            <a:ext cx="3017520" cy="384048"/>
          </a:xfrm>
          <a:prstGeom prst="rect">
            <a:avLst/>
          </a:prstGeom>
          <a:noFill/>
          <a:ln/>
        </p:spPr>
        <p:txBody>
          <a:bodyPr wrap="square" lIns="0" tIns="0" rIns="0" bIns="0" rtlCol="0" anchor="ctr"/>
          <a:lstStyle/>
          <a:p>
            <a:pPr marL="0" indent="0">
              <a:buNone/>
            </a:pPr>
            <a:r>
              <a:rPr lang="en-US" sz="1200" dirty="0">
                <a:solidFill>
                  <a:srgbClr val="1E1B4B"/>
                </a:solidFill>
                <a:latin typeface="Courier New" pitchFamily="34" charset="0"/>
                <a:ea typeface="Courier New" pitchFamily="34" charset="-122"/>
                <a:cs typeface="Courier New" pitchFamily="34" charset="-120"/>
              </a:rPr>
              <a:t>Y5  P3  Z5  X2  Q2</a:t>
            </a:r>
            <a:endParaRPr lang="en-US" sz="1200" dirty="0"/>
          </a:p>
        </p:txBody>
      </p:sp>
      <p:sp>
        <p:nvSpPr>
          <p:cNvPr id="24" name="Text 22"/>
          <p:cNvSpPr txBox="1"/>
          <p:nvPr/>
        </p:nvSpPr>
        <p:spPr>
          <a:xfrm>
            <a:off x="4389120" y="3794760"/>
            <a:ext cx="4297680" cy="274320"/>
          </a:xfrm>
          <a:prstGeom prst="rect">
            <a:avLst/>
          </a:prstGeom>
          <a:noFill/>
          <a:ln/>
        </p:spPr>
        <p:txBody>
          <a:bodyPr wrap="square" lIns="0" tIns="0" rIns="0" bIns="0" rtlCol="0" anchor="ctr"/>
          <a:lstStyle/>
          <a:p>
            <a:pPr marL="0" indent="0">
              <a:buNone/>
            </a:pPr>
            <a:r>
              <a:rPr lang="en-US" sz="1200" b="1" kern="0" spc="200" dirty="0">
                <a:solidFill>
                  <a:srgbClr val="4F46E5"/>
                </a:solidFill>
                <a:latin typeface="Calibri" pitchFamily="34" charset="0"/>
                <a:ea typeface="Calibri" pitchFamily="34" charset="-122"/>
                <a:cs typeface="Calibri" pitchFamily="34" charset="-120"/>
              </a:rPr>
              <a:t>ORDER OF TREATMENT (DOCTOR FREE 5 TIMES)</a:t>
            </a:r>
            <a:endParaRPr lang="en-US" sz="1200" dirty="0"/>
          </a:p>
        </p:txBody>
      </p:sp>
      <p:sp>
        <p:nvSpPr>
          <p:cNvPr id="25" name="Shape 23"/>
          <p:cNvSpPr/>
          <p:nvPr/>
        </p:nvSpPr>
        <p:spPr>
          <a:xfrm>
            <a:off x="4389120" y="4160520"/>
            <a:ext cx="804672" cy="457200"/>
          </a:xfrm>
          <a:prstGeom prst="roundRect">
            <a:avLst>
              <a:gd name="adj" fmla="val 20000"/>
            </a:avLst>
          </a:prstGeom>
          <a:solidFill>
            <a:srgbClr val="F43F5E"/>
          </a:solidFill>
          <a:ln w="12700">
            <a:solidFill>
              <a:srgbClr val="F43F5E"/>
            </a:solidFill>
            <a:prstDash val="solid"/>
          </a:ln>
        </p:spPr>
      </p:sp>
      <p:sp>
        <p:nvSpPr>
          <p:cNvPr id="26" name="Text 24"/>
          <p:cNvSpPr txBox="1"/>
          <p:nvPr/>
        </p:nvSpPr>
        <p:spPr>
          <a:xfrm>
            <a:off x="4389120" y="4160520"/>
            <a:ext cx="8046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Y</a:t>
            </a:r>
            <a:endParaRPr lang="en-US" sz="1400" dirty="0"/>
          </a:p>
        </p:txBody>
      </p:sp>
      <p:sp>
        <p:nvSpPr>
          <p:cNvPr id="27" name="Shape 25"/>
          <p:cNvSpPr/>
          <p:nvPr/>
        </p:nvSpPr>
        <p:spPr>
          <a:xfrm>
            <a:off x="5257800" y="4160520"/>
            <a:ext cx="804672" cy="457200"/>
          </a:xfrm>
          <a:prstGeom prst="roundRect">
            <a:avLst>
              <a:gd name="adj" fmla="val 20000"/>
            </a:avLst>
          </a:prstGeom>
          <a:solidFill>
            <a:srgbClr val="F43F5E"/>
          </a:solidFill>
          <a:ln w="12700">
            <a:solidFill>
              <a:srgbClr val="F43F5E"/>
            </a:solidFill>
            <a:prstDash val="solid"/>
          </a:ln>
        </p:spPr>
      </p:sp>
      <p:sp>
        <p:nvSpPr>
          <p:cNvPr id="28" name="Text 26"/>
          <p:cNvSpPr txBox="1"/>
          <p:nvPr/>
        </p:nvSpPr>
        <p:spPr>
          <a:xfrm>
            <a:off x="5257800" y="4160520"/>
            <a:ext cx="8046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 Z</a:t>
            </a:r>
            <a:endParaRPr lang="en-US" sz="1400" dirty="0"/>
          </a:p>
        </p:txBody>
      </p:sp>
      <p:sp>
        <p:nvSpPr>
          <p:cNvPr id="29" name="Shape 27"/>
          <p:cNvSpPr/>
          <p:nvPr/>
        </p:nvSpPr>
        <p:spPr>
          <a:xfrm>
            <a:off x="6126480" y="4160520"/>
            <a:ext cx="804672" cy="457200"/>
          </a:xfrm>
          <a:prstGeom prst="roundRect">
            <a:avLst>
              <a:gd name="adj" fmla="val 20000"/>
            </a:avLst>
          </a:prstGeom>
          <a:solidFill>
            <a:srgbClr val="4F46E5"/>
          </a:solidFill>
          <a:ln w="12700">
            <a:solidFill>
              <a:srgbClr val="4F46E5"/>
            </a:solidFill>
            <a:prstDash val="solid"/>
          </a:ln>
        </p:spPr>
      </p:sp>
      <p:sp>
        <p:nvSpPr>
          <p:cNvPr id="30" name="Text 28"/>
          <p:cNvSpPr txBox="1"/>
          <p:nvPr/>
        </p:nvSpPr>
        <p:spPr>
          <a:xfrm>
            <a:off x="6126480" y="4160520"/>
            <a:ext cx="8046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 P</a:t>
            </a:r>
            <a:endParaRPr lang="en-US" sz="1400" dirty="0"/>
          </a:p>
        </p:txBody>
      </p:sp>
      <p:sp>
        <p:nvSpPr>
          <p:cNvPr id="31" name="Shape 29"/>
          <p:cNvSpPr/>
          <p:nvPr/>
        </p:nvSpPr>
        <p:spPr>
          <a:xfrm>
            <a:off x="6995160" y="4160520"/>
            <a:ext cx="804672" cy="457200"/>
          </a:xfrm>
          <a:prstGeom prst="roundRect">
            <a:avLst>
              <a:gd name="adj" fmla="val 20000"/>
            </a:avLst>
          </a:prstGeom>
          <a:solidFill>
            <a:srgbClr val="E08A00"/>
          </a:solidFill>
          <a:ln w="12700">
            <a:solidFill>
              <a:srgbClr val="E08A00"/>
            </a:solidFill>
            <a:prstDash val="solid"/>
          </a:ln>
        </p:spPr>
      </p:sp>
      <p:sp>
        <p:nvSpPr>
          <p:cNvPr id="32" name="Text 30"/>
          <p:cNvSpPr txBox="1"/>
          <p:nvPr/>
        </p:nvSpPr>
        <p:spPr>
          <a:xfrm>
            <a:off x="6995160" y="4160520"/>
            <a:ext cx="8046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 X</a:t>
            </a:r>
            <a:endParaRPr lang="en-US" sz="1400" dirty="0"/>
          </a:p>
        </p:txBody>
      </p:sp>
      <p:sp>
        <p:nvSpPr>
          <p:cNvPr id="33" name="Shape 31"/>
          <p:cNvSpPr/>
          <p:nvPr/>
        </p:nvSpPr>
        <p:spPr>
          <a:xfrm>
            <a:off x="7863840" y="4160520"/>
            <a:ext cx="804672" cy="457200"/>
          </a:xfrm>
          <a:prstGeom prst="roundRect">
            <a:avLst>
              <a:gd name="adj" fmla="val 20000"/>
            </a:avLst>
          </a:prstGeom>
          <a:solidFill>
            <a:srgbClr val="E08A00"/>
          </a:solidFill>
          <a:ln w="12700">
            <a:solidFill>
              <a:srgbClr val="E08A00"/>
            </a:solidFill>
            <a:prstDash val="solid"/>
          </a:ln>
        </p:spPr>
      </p:sp>
      <p:sp>
        <p:nvSpPr>
          <p:cNvPr id="34" name="Text 32"/>
          <p:cNvSpPr txBox="1"/>
          <p:nvPr/>
        </p:nvSpPr>
        <p:spPr>
          <a:xfrm>
            <a:off x="7863840" y="4160520"/>
            <a:ext cx="804672"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 Q</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B4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Complexity &amp; Takeaways</a:t>
            </a:r>
            <a:endParaRPr lang="en-US" sz="3200" dirty="0"/>
          </a:p>
        </p:txBody>
      </p:sp>
      <p:sp>
        <p:nvSpPr>
          <p:cNvPr id="3" name="Shape 1"/>
          <p:cNvSpPr/>
          <p:nvPr/>
        </p:nvSpPr>
        <p:spPr>
          <a:xfrm>
            <a:off x="457200" y="1097280"/>
            <a:ext cx="1920240" cy="1188720"/>
          </a:xfrm>
          <a:prstGeom prst="roundRect">
            <a:avLst>
              <a:gd name="adj" fmla="val 7692"/>
            </a:avLst>
          </a:prstGeom>
          <a:solidFill>
            <a:srgbClr val="4F46E5"/>
          </a:solidFill>
          <a:ln w="12700">
            <a:solidFill>
              <a:srgbClr val="4F46E5"/>
            </a:solidFill>
            <a:prstDash val="solid"/>
          </a:ln>
        </p:spPr>
      </p:sp>
      <p:sp>
        <p:nvSpPr>
          <p:cNvPr id="4" name="Text 2"/>
          <p:cNvSpPr txBox="1"/>
          <p:nvPr/>
        </p:nvSpPr>
        <p:spPr>
          <a:xfrm>
            <a:off x="457200" y="1188720"/>
            <a:ext cx="192024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O(log n)</a:t>
            </a:r>
            <a:endParaRPr lang="en-US" sz="2600" dirty="0"/>
          </a:p>
        </p:txBody>
      </p:sp>
      <p:sp>
        <p:nvSpPr>
          <p:cNvPr id="5" name="Text 3"/>
          <p:cNvSpPr txBox="1"/>
          <p:nvPr/>
        </p:nvSpPr>
        <p:spPr>
          <a:xfrm>
            <a:off x="457200" y="1828800"/>
            <a:ext cx="1920240" cy="320040"/>
          </a:xfrm>
          <a:prstGeom prst="rect">
            <a:avLst/>
          </a:prstGeom>
          <a:noFill/>
          <a:ln/>
        </p:spPr>
        <p:txBody>
          <a:bodyPr wrap="square" lIns="0" tIns="0" rIns="0" bIns="0" rtlCol="0" anchor="ctr"/>
          <a:lstStyle/>
          <a:p>
            <a:pPr marL="0" indent="0" algn="ctr">
              <a:buNone/>
            </a:pPr>
            <a:r>
              <a:rPr lang="en-US" sz="1400" dirty="0">
                <a:solidFill>
                  <a:srgbClr val="DDD9FF"/>
                </a:solidFill>
                <a:latin typeface="Calibri" pitchFamily="34" charset="0"/>
                <a:ea typeface="Calibri" pitchFamily="34" charset="-122"/>
                <a:cs typeface="Calibri" pitchFamily="34" charset="-120"/>
              </a:rPr>
              <a:t>Insert</a:t>
            </a:r>
            <a:endParaRPr lang="en-US" sz="1400" dirty="0"/>
          </a:p>
        </p:txBody>
      </p:sp>
      <p:sp>
        <p:nvSpPr>
          <p:cNvPr id="6" name="Shape 4"/>
          <p:cNvSpPr/>
          <p:nvPr/>
        </p:nvSpPr>
        <p:spPr>
          <a:xfrm>
            <a:off x="2560320" y="1097280"/>
            <a:ext cx="1920240" cy="1188720"/>
          </a:xfrm>
          <a:prstGeom prst="roundRect">
            <a:avLst>
              <a:gd name="adj" fmla="val 7692"/>
            </a:avLst>
          </a:prstGeom>
          <a:solidFill>
            <a:srgbClr val="4F46E5"/>
          </a:solidFill>
          <a:ln w="12700">
            <a:solidFill>
              <a:srgbClr val="4F46E5"/>
            </a:solidFill>
            <a:prstDash val="solid"/>
          </a:ln>
        </p:spPr>
      </p:sp>
      <p:sp>
        <p:nvSpPr>
          <p:cNvPr id="7" name="Text 5"/>
          <p:cNvSpPr txBox="1"/>
          <p:nvPr/>
        </p:nvSpPr>
        <p:spPr>
          <a:xfrm>
            <a:off x="2560320" y="1188720"/>
            <a:ext cx="192024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O(log n)</a:t>
            </a:r>
            <a:endParaRPr lang="en-US" sz="2600" dirty="0"/>
          </a:p>
        </p:txBody>
      </p:sp>
      <p:sp>
        <p:nvSpPr>
          <p:cNvPr id="8" name="Text 6"/>
          <p:cNvSpPr txBox="1"/>
          <p:nvPr/>
        </p:nvSpPr>
        <p:spPr>
          <a:xfrm>
            <a:off x="2560320" y="1828800"/>
            <a:ext cx="1920240" cy="320040"/>
          </a:xfrm>
          <a:prstGeom prst="rect">
            <a:avLst/>
          </a:prstGeom>
          <a:noFill/>
          <a:ln/>
        </p:spPr>
        <p:txBody>
          <a:bodyPr wrap="square" lIns="0" tIns="0" rIns="0" bIns="0" rtlCol="0" anchor="ctr"/>
          <a:lstStyle/>
          <a:p>
            <a:pPr marL="0" indent="0" algn="ctr">
              <a:buNone/>
            </a:pPr>
            <a:r>
              <a:rPr lang="en-US" sz="1400" dirty="0">
                <a:solidFill>
                  <a:srgbClr val="DDD9FF"/>
                </a:solidFill>
                <a:latin typeface="Calibri" pitchFamily="34" charset="0"/>
                <a:ea typeface="Calibri" pitchFamily="34" charset="-122"/>
                <a:cs typeface="Calibri" pitchFamily="34" charset="-120"/>
              </a:rPr>
              <a:t>Next patient</a:t>
            </a:r>
            <a:endParaRPr lang="en-US" sz="1400" dirty="0"/>
          </a:p>
        </p:txBody>
      </p:sp>
      <p:sp>
        <p:nvSpPr>
          <p:cNvPr id="9" name="Shape 7"/>
          <p:cNvSpPr/>
          <p:nvPr/>
        </p:nvSpPr>
        <p:spPr>
          <a:xfrm>
            <a:off x="4663440" y="1097280"/>
            <a:ext cx="1920240" cy="1188720"/>
          </a:xfrm>
          <a:prstGeom prst="roundRect">
            <a:avLst>
              <a:gd name="adj" fmla="val 7692"/>
            </a:avLst>
          </a:prstGeom>
          <a:solidFill>
            <a:srgbClr val="4F46E5"/>
          </a:solidFill>
          <a:ln w="12700">
            <a:solidFill>
              <a:srgbClr val="4F46E5"/>
            </a:solidFill>
            <a:prstDash val="solid"/>
          </a:ln>
        </p:spPr>
      </p:sp>
      <p:sp>
        <p:nvSpPr>
          <p:cNvPr id="10" name="Text 8"/>
          <p:cNvSpPr txBox="1"/>
          <p:nvPr/>
        </p:nvSpPr>
        <p:spPr>
          <a:xfrm>
            <a:off x="4663440" y="1188720"/>
            <a:ext cx="192024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O(1)</a:t>
            </a:r>
            <a:endParaRPr lang="en-US" sz="2600" dirty="0"/>
          </a:p>
        </p:txBody>
      </p:sp>
      <p:sp>
        <p:nvSpPr>
          <p:cNvPr id="11" name="Text 9"/>
          <p:cNvSpPr txBox="1"/>
          <p:nvPr/>
        </p:nvSpPr>
        <p:spPr>
          <a:xfrm>
            <a:off x="4663440" y="1828800"/>
            <a:ext cx="1920240" cy="320040"/>
          </a:xfrm>
          <a:prstGeom prst="rect">
            <a:avLst/>
          </a:prstGeom>
          <a:noFill/>
          <a:ln/>
        </p:spPr>
        <p:txBody>
          <a:bodyPr wrap="square" lIns="0" tIns="0" rIns="0" bIns="0" rtlCol="0" anchor="ctr"/>
          <a:lstStyle/>
          <a:p>
            <a:pPr marL="0" indent="0" algn="ctr">
              <a:buNone/>
            </a:pPr>
            <a:r>
              <a:rPr lang="en-US" sz="1400" dirty="0">
                <a:solidFill>
                  <a:srgbClr val="DDD9FF"/>
                </a:solidFill>
                <a:latin typeface="Calibri" pitchFamily="34" charset="0"/>
                <a:ea typeface="Calibri" pitchFamily="34" charset="-122"/>
                <a:cs typeface="Calibri" pitchFamily="34" charset="-120"/>
              </a:rPr>
              <a:t>Peek</a:t>
            </a:r>
            <a:endParaRPr lang="en-US" sz="1400" dirty="0"/>
          </a:p>
        </p:txBody>
      </p:sp>
      <p:sp>
        <p:nvSpPr>
          <p:cNvPr id="12" name="Shape 10"/>
          <p:cNvSpPr/>
          <p:nvPr/>
        </p:nvSpPr>
        <p:spPr>
          <a:xfrm>
            <a:off x="6766560" y="1097280"/>
            <a:ext cx="1920240" cy="1188720"/>
          </a:xfrm>
          <a:prstGeom prst="roundRect">
            <a:avLst>
              <a:gd name="adj" fmla="val 7692"/>
            </a:avLst>
          </a:prstGeom>
          <a:solidFill>
            <a:srgbClr val="4F46E5"/>
          </a:solidFill>
          <a:ln w="12700">
            <a:solidFill>
              <a:srgbClr val="4F46E5"/>
            </a:solidFill>
            <a:prstDash val="solid"/>
          </a:ln>
        </p:spPr>
      </p:sp>
      <p:sp>
        <p:nvSpPr>
          <p:cNvPr id="13" name="Text 11"/>
          <p:cNvSpPr txBox="1"/>
          <p:nvPr/>
        </p:nvSpPr>
        <p:spPr>
          <a:xfrm>
            <a:off x="6766560" y="1188720"/>
            <a:ext cx="192024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O(n)</a:t>
            </a:r>
            <a:endParaRPr lang="en-US" sz="2600" dirty="0"/>
          </a:p>
        </p:txBody>
      </p:sp>
      <p:sp>
        <p:nvSpPr>
          <p:cNvPr id="14" name="Text 12"/>
          <p:cNvSpPr txBox="1"/>
          <p:nvPr/>
        </p:nvSpPr>
        <p:spPr>
          <a:xfrm>
            <a:off x="6766560" y="1828800"/>
            <a:ext cx="1920240" cy="320040"/>
          </a:xfrm>
          <a:prstGeom prst="rect">
            <a:avLst/>
          </a:prstGeom>
          <a:noFill/>
          <a:ln/>
        </p:spPr>
        <p:txBody>
          <a:bodyPr wrap="square" lIns="0" tIns="0" rIns="0" bIns="0" rtlCol="0" anchor="ctr"/>
          <a:lstStyle/>
          <a:p>
            <a:pPr marL="0" indent="0" algn="ctr">
              <a:buNone/>
            </a:pPr>
            <a:r>
              <a:rPr lang="en-US" sz="1400" dirty="0">
                <a:solidFill>
                  <a:srgbClr val="DDD9FF"/>
                </a:solidFill>
                <a:latin typeface="Calibri" pitchFamily="34" charset="0"/>
                <a:ea typeface="Calibri" pitchFamily="34" charset="-122"/>
                <a:cs typeface="Calibri" pitchFamily="34" charset="-120"/>
              </a:rPr>
              <a:t>Space</a:t>
            </a:r>
            <a:endParaRPr lang="en-US" sz="1400" dirty="0"/>
          </a:p>
        </p:txBody>
      </p:sp>
      <p:sp>
        <p:nvSpPr>
          <p:cNvPr id="15" name="Text 13"/>
          <p:cNvSpPr txBox="1"/>
          <p:nvPr/>
        </p:nvSpPr>
        <p:spPr>
          <a:xfrm>
            <a:off x="457200" y="2606040"/>
            <a:ext cx="3931920" cy="274320"/>
          </a:xfrm>
          <a:prstGeom prst="rect">
            <a:avLst/>
          </a:prstGeom>
          <a:noFill/>
          <a:ln/>
        </p:spPr>
        <p:txBody>
          <a:bodyPr wrap="square" lIns="0" tIns="0" rIns="0" bIns="0" rtlCol="0" anchor="ctr"/>
          <a:lstStyle/>
          <a:p>
            <a:pPr marL="0" indent="0">
              <a:buNone/>
            </a:pPr>
            <a:r>
              <a:rPr lang="en-US" sz="1200" b="1" kern="0" spc="200" dirty="0">
                <a:solidFill>
                  <a:srgbClr val="E08A00"/>
                </a:solidFill>
                <a:latin typeface="Calibri" pitchFamily="34" charset="0"/>
                <a:ea typeface="Calibri" pitchFamily="34" charset="-122"/>
                <a:cs typeface="Calibri" pitchFamily="34" charset="-120"/>
              </a:rPr>
              <a:t>WHY LOG N?</a:t>
            </a:r>
            <a:endParaRPr lang="en-US" sz="1200" dirty="0"/>
          </a:p>
        </p:txBody>
      </p:sp>
      <p:sp>
        <p:nvSpPr>
          <p:cNvPr id="16" name="Text 14"/>
          <p:cNvSpPr txBox="1"/>
          <p:nvPr/>
        </p:nvSpPr>
        <p:spPr>
          <a:xfrm>
            <a:off x="457200" y="2880360"/>
            <a:ext cx="3931920" cy="8686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heap of n items has height about log2(n). Sift-up and sift-down each walk a single path of that height.</a:t>
            </a:r>
            <a:endParaRPr lang="en-US" sz="1300" dirty="0"/>
          </a:p>
        </p:txBody>
      </p:sp>
      <p:sp>
        <p:nvSpPr>
          <p:cNvPr id="17" name="Text 15"/>
          <p:cNvSpPr txBox="1"/>
          <p:nvPr/>
        </p:nvSpPr>
        <p:spPr>
          <a:xfrm>
            <a:off x="4754880" y="2606040"/>
            <a:ext cx="3931920" cy="274320"/>
          </a:xfrm>
          <a:prstGeom prst="rect">
            <a:avLst/>
          </a:prstGeom>
          <a:noFill/>
          <a:ln/>
        </p:spPr>
        <p:txBody>
          <a:bodyPr wrap="square" lIns="0" tIns="0" rIns="0" bIns="0" rtlCol="0" anchor="ctr"/>
          <a:lstStyle/>
          <a:p>
            <a:pPr marL="0" indent="0">
              <a:buNone/>
            </a:pPr>
            <a:r>
              <a:rPr lang="en-US" sz="1200" b="1" kern="0" spc="200" dirty="0">
                <a:solidFill>
                  <a:srgbClr val="E08A00"/>
                </a:solidFill>
                <a:latin typeface="Calibri" pitchFamily="34" charset="0"/>
                <a:ea typeface="Calibri" pitchFamily="34" charset="-122"/>
                <a:cs typeface="Calibri" pitchFamily="34" charset="-120"/>
              </a:rPr>
              <a:t>WHERE ELSE IS IT USED?</a:t>
            </a:r>
            <a:endParaRPr lang="en-US" sz="1200" dirty="0"/>
          </a:p>
        </p:txBody>
      </p:sp>
      <p:sp>
        <p:nvSpPr>
          <p:cNvPr id="18" name="Shape 16"/>
          <p:cNvSpPr/>
          <p:nvPr/>
        </p:nvSpPr>
        <p:spPr>
          <a:xfrm>
            <a:off x="4754880" y="2926080"/>
            <a:ext cx="1874520" cy="411480"/>
          </a:xfrm>
          <a:prstGeom prst="roundRect">
            <a:avLst>
              <a:gd name="adj" fmla="val 44444"/>
            </a:avLst>
          </a:prstGeom>
          <a:solidFill>
            <a:srgbClr val="2E2A6B"/>
          </a:solidFill>
          <a:ln w="12700">
            <a:solidFill>
              <a:srgbClr val="E08A00"/>
            </a:solidFill>
            <a:prstDash val="solid"/>
          </a:ln>
        </p:spPr>
      </p:sp>
      <p:sp>
        <p:nvSpPr>
          <p:cNvPr id="19" name="Text 17"/>
          <p:cNvSpPr txBox="1"/>
          <p:nvPr/>
        </p:nvSpPr>
        <p:spPr>
          <a:xfrm>
            <a:off x="4754880" y="2926080"/>
            <a:ext cx="1874520" cy="41148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CPU / OS scheduling</a:t>
            </a:r>
            <a:endParaRPr lang="en-US" sz="1200" dirty="0"/>
          </a:p>
        </p:txBody>
      </p:sp>
      <p:sp>
        <p:nvSpPr>
          <p:cNvPr id="20" name="Shape 18"/>
          <p:cNvSpPr/>
          <p:nvPr/>
        </p:nvSpPr>
        <p:spPr>
          <a:xfrm>
            <a:off x="6766560" y="2926080"/>
            <a:ext cx="1874520" cy="411480"/>
          </a:xfrm>
          <a:prstGeom prst="roundRect">
            <a:avLst>
              <a:gd name="adj" fmla="val 44444"/>
            </a:avLst>
          </a:prstGeom>
          <a:solidFill>
            <a:srgbClr val="2E2A6B"/>
          </a:solidFill>
          <a:ln w="12700">
            <a:solidFill>
              <a:srgbClr val="E08A00"/>
            </a:solidFill>
            <a:prstDash val="solid"/>
          </a:ln>
        </p:spPr>
      </p:sp>
      <p:sp>
        <p:nvSpPr>
          <p:cNvPr id="21" name="Text 19"/>
          <p:cNvSpPr txBox="1"/>
          <p:nvPr/>
        </p:nvSpPr>
        <p:spPr>
          <a:xfrm>
            <a:off x="6766560" y="2926080"/>
            <a:ext cx="1874520" cy="41148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Dijkstra's algorithm</a:t>
            </a:r>
            <a:endParaRPr lang="en-US" sz="1200" dirty="0"/>
          </a:p>
        </p:txBody>
      </p:sp>
      <p:sp>
        <p:nvSpPr>
          <p:cNvPr id="22" name="Shape 20"/>
          <p:cNvSpPr/>
          <p:nvPr/>
        </p:nvSpPr>
        <p:spPr>
          <a:xfrm>
            <a:off x="4754880" y="3429000"/>
            <a:ext cx="1874520" cy="411480"/>
          </a:xfrm>
          <a:prstGeom prst="roundRect">
            <a:avLst>
              <a:gd name="adj" fmla="val 44444"/>
            </a:avLst>
          </a:prstGeom>
          <a:solidFill>
            <a:srgbClr val="2E2A6B"/>
          </a:solidFill>
          <a:ln w="12700">
            <a:solidFill>
              <a:srgbClr val="E08A00"/>
            </a:solidFill>
            <a:prstDash val="solid"/>
          </a:ln>
        </p:spPr>
      </p:sp>
      <p:sp>
        <p:nvSpPr>
          <p:cNvPr id="23" name="Text 21"/>
          <p:cNvSpPr txBox="1"/>
          <p:nvPr/>
        </p:nvSpPr>
        <p:spPr>
          <a:xfrm>
            <a:off x="4754880" y="3429000"/>
            <a:ext cx="1874520" cy="41148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Heap sort</a:t>
            </a:r>
            <a:endParaRPr lang="en-US" sz="1200" dirty="0"/>
          </a:p>
        </p:txBody>
      </p:sp>
      <p:sp>
        <p:nvSpPr>
          <p:cNvPr id="24" name="Shape 22"/>
          <p:cNvSpPr/>
          <p:nvPr/>
        </p:nvSpPr>
        <p:spPr>
          <a:xfrm>
            <a:off x="6766560" y="3429000"/>
            <a:ext cx="1874520" cy="411480"/>
          </a:xfrm>
          <a:prstGeom prst="roundRect">
            <a:avLst>
              <a:gd name="adj" fmla="val 44444"/>
            </a:avLst>
          </a:prstGeom>
          <a:solidFill>
            <a:srgbClr val="2E2A6B"/>
          </a:solidFill>
          <a:ln w="12700">
            <a:solidFill>
              <a:srgbClr val="E08A00"/>
            </a:solidFill>
            <a:prstDash val="solid"/>
          </a:ln>
        </p:spPr>
      </p:sp>
      <p:sp>
        <p:nvSpPr>
          <p:cNvPr id="25" name="Text 23"/>
          <p:cNvSpPr txBox="1"/>
          <p:nvPr/>
        </p:nvSpPr>
        <p:spPr>
          <a:xfrm>
            <a:off x="6766560" y="3429000"/>
            <a:ext cx="1874520" cy="41148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Event simulation</a:t>
            </a:r>
            <a:endParaRPr lang="en-US" sz="1200" dirty="0"/>
          </a:p>
        </p:txBody>
      </p:sp>
      <p:sp>
        <p:nvSpPr>
          <p:cNvPr id="26" name="Text 24"/>
          <p:cNvSpPr txBox="1"/>
          <p:nvPr/>
        </p:nvSpPr>
        <p:spPr>
          <a:xfrm>
            <a:off x="457200" y="4023360"/>
            <a:ext cx="8229600" cy="548640"/>
          </a:xfrm>
          <a:prstGeom prst="rect">
            <a:avLst/>
          </a:prstGeom>
          <a:noFill/>
          <a:ln/>
        </p:spPr>
        <p:txBody>
          <a:bodyPr wrap="square" lIns="0" tIns="0" rIns="0" bIns="0" rtlCol="0" anchor="ctr"/>
          <a:lstStyle/>
          <a:p>
            <a:pPr marL="0" indent="0">
              <a:buNone/>
            </a:pPr>
            <a:r>
              <a:rPr lang="en-US" sz="2000" b="1" i="1" dirty="0">
                <a:solidFill>
                  <a:srgbClr val="E08A00"/>
                </a:solidFill>
                <a:latin typeface="Cambria" pitchFamily="34" charset="0"/>
                <a:ea typeface="Cambria" pitchFamily="34" charset="-122"/>
                <a:cs typeface="Cambria" pitchFamily="34" charset="-120"/>
              </a:rPr>
              <a:t>A heap keeps the most urgent item always one step ahead.</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1480</Words>
  <Application>Microsoft Office PowerPoint</Application>
  <PresentationFormat>On-screen Show (16:9)</PresentationFormat>
  <Paragraphs>204</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Heap &amp; Priority Queue</dc:title>
  <dc:subject>PptxGenJS Presentation</dc:subject>
  <dc:creator>PptxGenJS</dc:creator>
  <cp:lastModifiedBy>charitha ayyappa</cp:lastModifiedBy>
  <cp:revision>2</cp:revision>
  <dcterms:created xsi:type="dcterms:W3CDTF">2026-10-03T04:39:46Z</dcterms:created>
  <dcterms:modified xsi:type="dcterms:W3CDTF">2026-10-03T05:19:46Z</dcterms:modified>
</cp:coreProperties>
</file>